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6" r:id="rId15"/>
    <p:sldId id="278" r:id="rId16"/>
    <p:sldId id="279" r:id="rId17"/>
    <p:sldId id="280" r:id="rId18"/>
    <p:sldId id="281" r:id="rId19"/>
    <p:sldId id="277" r:id="rId20"/>
    <p:sldId id="282" r:id="rId21"/>
    <p:sldId id="283" r:id="rId22"/>
    <p:sldId id="284" r:id="rId23"/>
    <p:sldId id="285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1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850" y="62"/>
      </p:cViewPr>
      <p:guideLst>
        <p:guide orient="horz" pos="2901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EBEBEB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EBEBEB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EBEBEB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EBEBEB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7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663951"/>
            <a:ext cx="4194048" cy="41940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892551"/>
            <a:ext cx="2365248" cy="23682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06028" y="5864352"/>
            <a:ext cx="996696" cy="99364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06028" y="1673351"/>
            <a:ext cx="2825496" cy="28254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6428" y="6095"/>
            <a:ext cx="1606296" cy="1606295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8502091" y="1519047"/>
            <a:ext cx="3288029" cy="768350"/>
          </a:xfrm>
          <a:custGeom>
            <a:avLst/>
            <a:gdLst/>
            <a:ahLst/>
            <a:cxnLst/>
            <a:rect l="l" t="t" r="r" b="b"/>
            <a:pathLst>
              <a:path w="3288029" h="768350">
                <a:moveTo>
                  <a:pt x="125954" y="767874"/>
                </a:moveTo>
                <a:lnTo>
                  <a:pt x="95127" y="767756"/>
                </a:lnTo>
                <a:lnTo>
                  <a:pt x="66158" y="767311"/>
                </a:lnTo>
                <a:lnTo>
                  <a:pt x="39103" y="766533"/>
                </a:lnTo>
                <a:lnTo>
                  <a:pt x="0" y="705142"/>
                </a:lnTo>
                <a:lnTo>
                  <a:pt x="174802" y="683894"/>
                </a:lnTo>
                <a:lnTo>
                  <a:pt x="447992" y="646861"/>
                </a:lnTo>
                <a:lnTo>
                  <a:pt x="731875" y="603923"/>
                </a:lnTo>
                <a:lnTo>
                  <a:pt x="829322" y="588479"/>
                </a:lnTo>
                <a:lnTo>
                  <a:pt x="927506" y="571461"/>
                </a:lnTo>
                <a:lnTo>
                  <a:pt x="1027074" y="554799"/>
                </a:lnTo>
                <a:lnTo>
                  <a:pt x="1127429" y="536816"/>
                </a:lnTo>
                <a:lnTo>
                  <a:pt x="1330147" y="498894"/>
                </a:lnTo>
                <a:lnTo>
                  <a:pt x="1536636" y="457606"/>
                </a:lnTo>
                <a:lnTo>
                  <a:pt x="1639747" y="436181"/>
                </a:lnTo>
                <a:lnTo>
                  <a:pt x="1743951" y="413384"/>
                </a:lnTo>
                <a:lnTo>
                  <a:pt x="1954695" y="365785"/>
                </a:lnTo>
                <a:lnTo>
                  <a:pt x="2059825" y="340537"/>
                </a:lnTo>
                <a:lnTo>
                  <a:pt x="2271598" y="287261"/>
                </a:lnTo>
                <a:lnTo>
                  <a:pt x="2378214" y="259054"/>
                </a:lnTo>
                <a:lnTo>
                  <a:pt x="2485694" y="230035"/>
                </a:lnTo>
                <a:lnTo>
                  <a:pt x="2591117" y="200685"/>
                </a:lnTo>
                <a:lnTo>
                  <a:pt x="2697505" y="169214"/>
                </a:lnTo>
                <a:lnTo>
                  <a:pt x="2910014" y="104724"/>
                </a:lnTo>
                <a:lnTo>
                  <a:pt x="3015564" y="70370"/>
                </a:lnTo>
                <a:lnTo>
                  <a:pt x="3121037" y="35509"/>
                </a:lnTo>
                <a:lnTo>
                  <a:pt x="3226384" y="0"/>
                </a:lnTo>
                <a:lnTo>
                  <a:pt x="3245428" y="138030"/>
                </a:lnTo>
                <a:lnTo>
                  <a:pt x="3264932" y="270503"/>
                </a:lnTo>
                <a:lnTo>
                  <a:pt x="3288029" y="436816"/>
                </a:lnTo>
                <a:lnTo>
                  <a:pt x="3250139" y="443324"/>
                </a:lnTo>
                <a:lnTo>
                  <a:pt x="3169704" y="456640"/>
                </a:lnTo>
                <a:lnTo>
                  <a:pt x="3083438" y="470309"/>
                </a:lnTo>
                <a:lnTo>
                  <a:pt x="2944090" y="491349"/>
                </a:lnTo>
                <a:lnTo>
                  <a:pt x="2794152" y="512866"/>
                </a:lnTo>
                <a:lnTo>
                  <a:pt x="2635141" y="534669"/>
                </a:lnTo>
                <a:lnTo>
                  <a:pt x="2468574" y="556570"/>
                </a:lnTo>
                <a:lnTo>
                  <a:pt x="2295968" y="578378"/>
                </a:lnTo>
                <a:lnTo>
                  <a:pt x="2118842" y="599904"/>
                </a:lnTo>
                <a:lnTo>
                  <a:pt x="1938711" y="620958"/>
                </a:lnTo>
                <a:lnTo>
                  <a:pt x="1757094" y="641350"/>
                </a:lnTo>
                <a:lnTo>
                  <a:pt x="1575508" y="660892"/>
                </a:lnTo>
                <a:lnTo>
                  <a:pt x="1395469" y="679392"/>
                </a:lnTo>
                <a:lnTo>
                  <a:pt x="1218495" y="696662"/>
                </a:lnTo>
                <a:lnTo>
                  <a:pt x="1046104" y="712511"/>
                </a:lnTo>
                <a:lnTo>
                  <a:pt x="879813" y="726751"/>
                </a:lnTo>
                <a:lnTo>
                  <a:pt x="773090" y="735255"/>
                </a:lnTo>
                <a:lnTo>
                  <a:pt x="670202" y="742904"/>
                </a:lnTo>
                <a:lnTo>
                  <a:pt x="571599" y="749641"/>
                </a:lnTo>
                <a:lnTo>
                  <a:pt x="477729" y="755409"/>
                </a:lnTo>
                <a:lnTo>
                  <a:pt x="389044" y="760153"/>
                </a:lnTo>
                <a:lnTo>
                  <a:pt x="305991" y="763815"/>
                </a:lnTo>
                <a:lnTo>
                  <a:pt x="229021" y="766341"/>
                </a:lnTo>
                <a:lnTo>
                  <a:pt x="158583" y="767673"/>
                </a:lnTo>
                <a:lnTo>
                  <a:pt x="125954" y="767874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1269"/>
            <a:ext cx="12192000" cy="6856730"/>
          </a:xfrm>
          <a:custGeom>
            <a:avLst/>
            <a:gdLst/>
            <a:ahLst/>
            <a:cxnLst/>
            <a:rect l="l" t="t" r="r" b="b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230"/>
                </a:lnTo>
                <a:lnTo>
                  <a:pt x="11709273" y="470217"/>
                </a:lnTo>
                <a:lnTo>
                  <a:pt x="11709273" y="1871052"/>
                </a:lnTo>
                <a:lnTo>
                  <a:pt x="11481524" y="1906409"/>
                </a:lnTo>
                <a:lnTo>
                  <a:pt x="11225936" y="1944509"/>
                </a:lnTo>
                <a:lnTo>
                  <a:pt x="10970349" y="1981022"/>
                </a:lnTo>
                <a:lnTo>
                  <a:pt x="10457586" y="2044522"/>
                </a:lnTo>
                <a:lnTo>
                  <a:pt x="10200411" y="2074684"/>
                </a:lnTo>
                <a:lnTo>
                  <a:pt x="9946411" y="2100084"/>
                </a:lnTo>
                <a:lnTo>
                  <a:pt x="9689236" y="2123897"/>
                </a:lnTo>
                <a:lnTo>
                  <a:pt x="9433649" y="2146122"/>
                </a:lnTo>
                <a:lnTo>
                  <a:pt x="8927236" y="2184222"/>
                </a:lnTo>
                <a:lnTo>
                  <a:pt x="8674824" y="2200097"/>
                </a:lnTo>
                <a:lnTo>
                  <a:pt x="8173174" y="2225497"/>
                </a:lnTo>
                <a:lnTo>
                  <a:pt x="7925524" y="2236609"/>
                </a:lnTo>
                <a:lnTo>
                  <a:pt x="7679461" y="2244547"/>
                </a:lnTo>
                <a:lnTo>
                  <a:pt x="7190511" y="2257247"/>
                </a:lnTo>
                <a:lnTo>
                  <a:pt x="6709499" y="2263597"/>
                </a:lnTo>
                <a:lnTo>
                  <a:pt x="6472961" y="2265184"/>
                </a:lnTo>
                <a:lnTo>
                  <a:pt x="6238011" y="2263597"/>
                </a:lnTo>
                <a:lnTo>
                  <a:pt x="6006236" y="2263597"/>
                </a:lnTo>
                <a:lnTo>
                  <a:pt x="5776049" y="2260422"/>
                </a:lnTo>
                <a:lnTo>
                  <a:pt x="5107711" y="2246134"/>
                </a:lnTo>
                <a:lnTo>
                  <a:pt x="4675911" y="2230259"/>
                </a:lnTo>
                <a:lnTo>
                  <a:pt x="4466361" y="2222322"/>
                </a:lnTo>
                <a:lnTo>
                  <a:pt x="4056786" y="2201684"/>
                </a:lnTo>
                <a:lnTo>
                  <a:pt x="3664674" y="2179459"/>
                </a:lnTo>
                <a:lnTo>
                  <a:pt x="3288436" y="2155647"/>
                </a:lnTo>
                <a:lnTo>
                  <a:pt x="2931249" y="2130247"/>
                </a:lnTo>
                <a:lnTo>
                  <a:pt x="2591524" y="2103259"/>
                </a:lnTo>
                <a:lnTo>
                  <a:pt x="2275611" y="2074684"/>
                </a:lnTo>
                <a:lnTo>
                  <a:pt x="1978748" y="2046109"/>
                </a:lnTo>
                <a:lnTo>
                  <a:pt x="1705698" y="2017534"/>
                </a:lnTo>
                <a:lnTo>
                  <a:pt x="1454873" y="1990547"/>
                </a:lnTo>
                <a:lnTo>
                  <a:pt x="1232623" y="1965147"/>
                </a:lnTo>
                <a:lnTo>
                  <a:pt x="1032598" y="1941334"/>
                </a:lnTo>
                <a:lnTo>
                  <a:pt x="862736" y="1920697"/>
                </a:lnTo>
                <a:lnTo>
                  <a:pt x="721448" y="1901647"/>
                </a:lnTo>
                <a:lnTo>
                  <a:pt x="526186" y="1874659"/>
                </a:lnTo>
                <a:lnTo>
                  <a:pt x="476377" y="1867547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bg 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90454" y="0"/>
            <a:ext cx="780516" cy="12157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3169" y="1011770"/>
            <a:ext cx="9929495" cy="969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EBEBEB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3690" y="2604007"/>
            <a:ext cx="8667750" cy="3713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jpe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0" y="1269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12192000" y="470230"/>
                  </a:lnTo>
                  <a:lnTo>
                    <a:pt x="11709273" y="470217"/>
                  </a:lnTo>
                  <a:lnTo>
                    <a:pt x="11709273" y="6380480"/>
                  </a:lnTo>
                  <a:lnTo>
                    <a:pt x="476377" y="6380480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0454" y="0"/>
              <a:ext cx="780516" cy="12157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9635" y="502919"/>
              <a:ext cx="4962144" cy="71170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3805" y="2235200"/>
            <a:ext cx="10037445" cy="97536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US" altLang="en-US" sz="320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IOT-BASED AUTOMATED GRAIN DRYING AND RAIN PROTECTION SYSTEM USING TELEGRAM ALERTS</a:t>
            </a:r>
            <a:endParaRPr lang="en-US" altLang="en-US" sz="320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US" altLang="en-US" sz="320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US" altLang="en-US" sz="320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39830" y="3954157"/>
            <a:ext cx="2330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EBEBEB"/>
                </a:solidFill>
                <a:latin typeface="Times New Roman" panose="02020603050405020304"/>
                <a:cs typeface="Times New Roman" panose="02020603050405020304"/>
              </a:rPr>
              <a:t>--</a:t>
            </a:r>
            <a:r>
              <a:rPr sz="1800" b="1" dirty="0">
                <a:solidFill>
                  <a:srgbClr val="EBEBEB"/>
                </a:solidFill>
                <a:latin typeface="Times New Roman" panose="02020603050405020304"/>
                <a:cs typeface="Times New Roman" panose="02020603050405020304"/>
              </a:rPr>
              <a:t>TEAM</a:t>
            </a:r>
            <a:r>
              <a:rPr sz="1800" b="1" spc="-35" dirty="0">
                <a:solidFill>
                  <a:srgbClr val="EBEBE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EBEBEB"/>
                </a:solidFill>
                <a:latin typeface="Times New Roman" panose="02020603050405020304"/>
                <a:cs typeface="Times New Roman" panose="02020603050405020304"/>
              </a:rPr>
              <a:t>MEMBERS—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3690" y="4219587"/>
            <a:ext cx="172593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 marR="5080" indent="-57150">
              <a:lnSpc>
                <a:spcPct val="136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M.</a:t>
            </a:r>
            <a:r>
              <a:rPr sz="1800" spc="-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KEERTHANA </a:t>
            </a:r>
            <a:r>
              <a:rPr sz="18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22P61A1271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4470" y="4219587"/>
            <a:ext cx="126492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" marR="5080" indent="-33020">
              <a:lnSpc>
                <a:spcPct val="136000"/>
              </a:lnSpc>
              <a:spcBef>
                <a:spcPts val="100"/>
              </a:spcBef>
            </a:pPr>
            <a:r>
              <a:rPr sz="1800" spc="-9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P.</a:t>
            </a:r>
            <a:r>
              <a:rPr sz="18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RUCHITH 22P61A1289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0625" y="4219587"/>
            <a:ext cx="133921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 marR="5080" indent="-69215">
              <a:lnSpc>
                <a:spcPct val="136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T.</a:t>
            </a:r>
            <a:r>
              <a:rPr sz="1800" spc="-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NAGASRI 22P61A12B5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45080" y="4219587"/>
            <a:ext cx="15754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 marR="5080" indent="-118110">
              <a:lnSpc>
                <a:spcPct val="136000"/>
              </a:lnSpc>
              <a:spcBef>
                <a:spcPts val="100"/>
              </a:spcBef>
            </a:pPr>
            <a:r>
              <a:rPr sz="1800" spc="-9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P.</a:t>
            </a:r>
            <a:r>
              <a:rPr sz="18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RAGHURAM 22P61A1288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33690" y="5438787"/>
            <a:ext cx="5657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EE52A4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1800" b="1" spc="-65" dirty="0">
                <a:solidFill>
                  <a:srgbClr val="EE52A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EE52A4"/>
                </a:solidFill>
                <a:latin typeface="Times New Roman" panose="02020603050405020304"/>
                <a:cs typeface="Times New Roman" panose="02020603050405020304"/>
              </a:rPr>
              <a:t>GUIDE:</a:t>
            </a:r>
            <a:r>
              <a:rPr sz="1800" b="1" spc="-10" dirty="0">
                <a:solidFill>
                  <a:srgbClr val="EE52A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EE52A4"/>
                </a:solidFill>
                <a:latin typeface="Times New Roman" panose="02020603050405020304"/>
                <a:cs typeface="Times New Roman" panose="02020603050405020304"/>
              </a:rPr>
              <a:t>MRS.</a:t>
            </a:r>
            <a:r>
              <a:rPr sz="1800" b="1" spc="-15" dirty="0">
                <a:solidFill>
                  <a:srgbClr val="EE52A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EE52A4"/>
                </a:solidFill>
                <a:latin typeface="Times New Roman" panose="02020603050405020304"/>
                <a:cs typeface="Times New Roman" panose="02020603050405020304"/>
              </a:rPr>
              <a:t>N.</a:t>
            </a:r>
            <a:r>
              <a:rPr sz="1800" b="1" spc="-10" dirty="0">
                <a:solidFill>
                  <a:srgbClr val="EE52A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solidFill>
                  <a:srgbClr val="EE52A4"/>
                </a:solidFill>
                <a:latin typeface="Times New Roman" panose="02020603050405020304"/>
                <a:cs typeface="Times New Roman" panose="02020603050405020304"/>
              </a:rPr>
              <a:t>INDIRA</a:t>
            </a:r>
            <a:r>
              <a:rPr sz="1800" b="1" spc="-105" dirty="0">
                <a:solidFill>
                  <a:srgbClr val="EE52A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EE52A4"/>
                </a:solidFill>
                <a:latin typeface="Times New Roman" panose="02020603050405020304"/>
                <a:cs typeface="Times New Roman" panose="02020603050405020304"/>
              </a:rPr>
              <a:t>PRIYADARSHINI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84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</a:rPr>
              <a:t>MAJOR</a:t>
            </a:r>
            <a:r>
              <a:rPr sz="3200" spc="-5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PROJECT</a:t>
            </a:r>
            <a:r>
              <a:rPr sz="3200" spc="-105" dirty="0">
                <a:solidFill>
                  <a:srgbClr val="FFFFFF"/>
                </a:solidFill>
              </a:rPr>
              <a:t> </a:t>
            </a:r>
            <a:r>
              <a:rPr sz="3200" spc="-35" dirty="0">
                <a:solidFill>
                  <a:srgbClr val="FFFFFF"/>
                </a:solidFill>
              </a:rPr>
              <a:t>IMPLEMENTATION</a:t>
            </a:r>
            <a:r>
              <a:rPr sz="3200" spc="-5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REVIEW</a:t>
            </a:r>
            <a:r>
              <a:rPr sz="3200" spc="-105" dirty="0">
                <a:solidFill>
                  <a:srgbClr val="FFFFFF"/>
                </a:solidFill>
              </a:rPr>
              <a:t> </a:t>
            </a:r>
            <a:r>
              <a:rPr sz="3200" spc="-25" dirty="0">
                <a:solidFill>
                  <a:srgbClr val="FFFFFF"/>
                </a:solidFill>
              </a:rPr>
              <a:t>ON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295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ahoma" panose="020B0604030504040204"/>
                <a:cs typeface="Tahoma" panose="020B0604030504040204"/>
              </a:rPr>
              <a:t>AGENDA</a:t>
            </a:r>
            <a:endParaRPr spc="-1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169" y="2209800"/>
            <a:ext cx="3316604" cy="4382610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5"/>
              </a:spcBef>
              <a:tabLst>
                <a:tab pos="354965" algn="l"/>
              </a:tabLst>
            </a:pPr>
            <a:r>
              <a:rPr sz="1300" spc="4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OBJECTIVE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1300" spc="4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ABSTRACT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1300" spc="4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sz="1700" spc="-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REVIEW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1300" spc="4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17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1300" spc="4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1700" spc="-8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1300" spc="4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ARCHITECTURE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354965" algn="l"/>
              </a:tabLst>
            </a:pPr>
            <a:r>
              <a:rPr sz="1300" spc="4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1700" spc="-6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REQUIREMENTS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354965" algn="l"/>
              </a:tabLst>
            </a:pPr>
            <a:r>
              <a:rPr sz="1300" spc="4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HARDWARE</a:t>
            </a:r>
            <a:r>
              <a:rPr sz="1700" spc="-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REQUIREMENT</a:t>
            </a:r>
            <a:r>
              <a:rPr lang="en-US"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lang="en-US" sz="1700" spc="-10" dirty="0">
              <a:solidFill>
                <a:srgbClr val="40404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354965" algn="l"/>
              </a:tabLst>
            </a:pPr>
            <a:r>
              <a:rPr lang="en-IN" sz="1800" spc="4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lang="en-US"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  OUTPUTS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1300" spc="4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CONCLUSION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1300" spc="4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REFERENCES</a:t>
            </a:r>
            <a:endParaRPr lang="en-US" sz="1700" spc="-10" dirty="0">
              <a:solidFill>
                <a:srgbClr val="40404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lang="en-US"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      </a:t>
            </a:r>
            <a:endParaRPr sz="17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06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600" dirty="0"/>
              <a:t>Develop</a:t>
            </a:r>
            <a:r>
              <a:rPr sz="1600" spc="90" dirty="0"/>
              <a:t> </a:t>
            </a:r>
            <a:r>
              <a:rPr sz="1600" dirty="0"/>
              <a:t>a</a:t>
            </a:r>
            <a:r>
              <a:rPr sz="1600" spc="100" dirty="0"/>
              <a:t> </a:t>
            </a:r>
            <a:r>
              <a:rPr sz="1600" dirty="0"/>
              <a:t>blockchain-enabled</a:t>
            </a:r>
            <a:r>
              <a:rPr sz="1600" spc="110" dirty="0"/>
              <a:t> </a:t>
            </a:r>
            <a:r>
              <a:rPr sz="1600" dirty="0"/>
              <a:t>decentralized</a:t>
            </a:r>
            <a:r>
              <a:rPr sz="1600" spc="105" dirty="0"/>
              <a:t> </a:t>
            </a:r>
            <a:r>
              <a:rPr sz="1600" dirty="0"/>
              <a:t>trust</a:t>
            </a:r>
            <a:r>
              <a:rPr sz="1600" spc="105" dirty="0"/>
              <a:t> </a:t>
            </a:r>
            <a:r>
              <a:rPr sz="1600" dirty="0"/>
              <a:t>management</a:t>
            </a:r>
            <a:r>
              <a:rPr sz="1600" spc="105" dirty="0"/>
              <a:t> </a:t>
            </a:r>
            <a:r>
              <a:rPr sz="1600" dirty="0"/>
              <a:t>and</a:t>
            </a:r>
            <a:r>
              <a:rPr sz="1600" spc="105" dirty="0"/>
              <a:t> </a:t>
            </a:r>
            <a:r>
              <a:rPr sz="1600" dirty="0"/>
              <a:t>secure</a:t>
            </a:r>
            <a:r>
              <a:rPr sz="1600" spc="105" dirty="0"/>
              <a:t> </a:t>
            </a:r>
            <a:r>
              <a:rPr sz="1600" dirty="0"/>
              <a:t>usage</a:t>
            </a:r>
            <a:r>
              <a:rPr sz="1600" spc="110" dirty="0"/>
              <a:t> </a:t>
            </a:r>
            <a:r>
              <a:rPr sz="1600" dirty="0"/>
              <a:t>control</a:t>
            </a:r>
            <a:r>
              <a:rPr sz="1600" spc="105" dirty="0"/>
              <a:t> </a:t>
            </a:r>
            <a:r>
              <a:rPr sz="1600" dirty="0"/>
              <a:t>system</a:t>
            </a:r>
            <a:r>
              <a:rPr sz="1600" spc="105" dirty="0"/>
              <a:t> </a:t>
            </a:r>
            <a:r>
              <a:rPr sz="1600" spc="-25" dirty="0"/>
              <a:t>for </a:t>
            </a:r>
            <a:r>
              <a:rPr sz="1600" dirty="0"/>
              <a:t>IoT</a:t>
            </a:r>
            <a:r>
              <a:rPr sz="1600" spc="-60" dirty="0"/>
              <a:t> </a:t>
            </a:r>
            <a:r>
              <a:rPr sz="1600" dirty="0"/>
              <a:t>big</a:t>
            </a:r>
            <a:r>
              <a:rPr sz="1600" spc="-30" dirty="0"/>
              <a:t> </a:t>
            </a:r>
            <a:r>
              <a:rPr sz="1600" dirty="0"/>
              <a:t>data</a:t>
            </a:r>
            <a:r>
              <a:rPr sz="1600" spc="-25" dirty="0"/>
              <a:t> </a:t>
            </a:r>
            <a:r>
              <a:rPr sz="1600" spc="-10" dirty="0"/>
              <a:t>(BlockBDM).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00"/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600" dirty="0"/>
              <a:t>Ensure</a:t>
            </a:r>
            <a:r>
              <a:rPr sz="1600" spc="-40" dirty="0"/>
              <a:t> </a:t>
            </a:r>
            <a:r>
              <a:rPr sz="1600" spc="-20" dirty="0"/>
              <a:t>tamper-</a:t>
            </a:r>
            <a:r>
              <a:rPr sz="1600" dirty="0"/>
              <a:t>resistant</a:t>
            </a:r>
            <a:r>
              <a:rPr sz="1600" spc="-40" dirty="0"/>
              <a:t> </a:t>
            </a:r>
            <a:r>
              <a:rPr sz="1600" dirty="0"/>
              <a:t>storage</a:t>
            </a:r>
            <a:r>
              <a:rPr sz="1600" spc="-35" dirty="0"/>
              <a:t> </a:t>
            </a:r>
            <a:r>
              <a:rPr sz="1600" dirty="0"/>
              <a:t>of</a:t>
            </a:r>
            <a:r>
              <a:rPr sz="1600" spc="-40" dirty="0"/>
              <a:t> </a:t>
            </a:r>
            <a:r>
              <a:rPr sz="1600" dirty="0"/>
              <a:t>IoT</a:t>
            </a:r>
            <a:r>
              <a:rPr sz="1600" spc="-65" dirty="0"/>
              <a:t> </a:t>
            </a:r>
            <a:r>
              <a:rPr sz="1600" spc="-10" dirty="0"/>
              <a:t>data.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00"/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600" dirty="0"/>
              <a:t>Provide</a:t>
            </a:r>
            <a:r>
              <a:rPr sz="1600" spc="-45" dirty="0"/>
              <a:t> </a:t>
            </a:r>
            <a:r>
              <a:rPr sz="1600" dirty="0"/>
              <a:t>secure</a:t>
            </a:r>
            <a:r>
              <a:rPr sz="1600" spc="-40" dirty="0"/>
              <a:t> </a:t>
            </a:r>
            <a:r>
              <a:rPr sz="1600" dirty="0"/>
              <a:t>usage</a:t>
            </a:r>
            <a:r>
              <a:rPr sz="1600" spc="-40" dirty="0"/>
              <a:t> </a:t>
            </a:r>
            <a:r>
              <a:rPr sz="1600" dirty="0"/>
              <a:t>and</a:t>
            </a:r>
            <a:r>
              <a:rPr sz="1600" spc="-45" dirty="0"/>
              <a:t> </a:t>
            </a:r>
            <a:r>
              <a:rPr sz="1600" dirty="0"/>
              <a:t>controlled</a:t>
            </a:r>
            <a:r>
              <a:rPr sz="1600" spc="-40" dirty="0"/>
              <a:t> </a:t>
            </a:r>
            <a:r>
              <a:rPr sz="1600" dirty="0"/>
              <a:t>access</a:t>
            </a:r>
            <a:r>
              <a:rPr sz="1600" spc="-40" dirty="0"/>
              <a:t> </a:t>
            </a:r>
            <a:r>
              <a:rPr sz="1600" dirty="0"/>
              <a:t>to</a:t>
            </a:r>
            <a:r>
              <a:rPr sz="1600" spc="-45" dirty="0"/>
              <a:t> </a:t>
            </a:r>
            <a:r>
              <a:rPr sz="1600" dirty="0"/>
              <a:t>the</a:t>
            </a:r>
            <a:r>
              <a:rPr sz="1600" spc="-40" dirty="0"/>
              <a:t> </a:t>
            </a:r>
            <a:r>
              <a:rPr sz="1600" spc="-10" dirty="0"/>
              <a:t>data.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00"/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600" dirty="0"/>
              <a:t>Introduce</a:t>
            </a:r>
            <a:r>
              <a:rPr sz="1600" spc="-60" dirty="0"/>
              <a:t> </a:t>
            </a:r>
            <a:r>
              <a:rPr sz="1600" dirty="0"/>
              <a:t>an</a:t>
            </a:r>
            <a:r>
              <a:rPr sz="1600" spc="-55" dirty="0"/>
              <a:t> </a:t>
            </a:r>
            <a:r>
              <a:rPr sz="1600" dirty="0"/>
              <a:t>incentive</a:t>
            </a:r>
            <a:r>
              <a:rPr sz="1600" spc="-55" dirty="0"/>
              <a:t> </a:t>
            </a:r>
            <a:r>
              <a:rPr sz="1600" dirty="0"/>
              <a:t>mechanism</a:t>
            </a:r>
            <a:r>
              <a:rPr sz="1600" spc="-55" dirty="0"/>
              <a:t> </a:t>
            </a:r>
            <a:r>
              <a:rPr sz="1600" dirty="0"/>
              <a:t>for</a:t>
            </a:r>
            <a:r>
              <a:rPr sz="1600" spc="-55" dirty="0"/>
              <a:t> </a:t>
            </a:r>
            <a:r>
              <a:rPr sz="1600" dirty="0"/>
              <a:t>content</a:t>
            </a:r>
            <a:r>
              <a:rPr sz="1600" spc="-60" dirty="0"/>
              <a:t> </a:t>
            </a:r>
            <a:r>
              <a:rPr sz="1600" dirty="0"/>
              <a:t>sharing</a:t>
            </a:r>
            <a:r>
              <a:rPr sz="1600" spc="-55" dirty="0"/>
              <a:t> </a:t>
            </a:r>
            <a:r>
              <a:rPr sz="1600" dirty="0"/>
              <a:t>using</a:t>
            </a:r>
            <a:r>
              <a:rPr sz="1600" spc="-55" dirty="0"/>
              <a:t> </a:t>
            </a:r>
            <a:r>
              <a:rPr sz="1600" dirty="0"/>
              <a:t>blockchain</a:t>
            </a:r>
            <a:r>
              <a:rPr sz="1600" spc="-55" dirty="0"/>
              <a:t> </a:t>
            </a:r>
            <a:r>
              <a:rPr sz="1600" spc="-10" dirty="0"/>
              <a:t>tokens.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00"/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600" dirty="0"/>
              <a:t>Use</a:t>
            </a:r>
            <a:r>
              <a:rPr sz="1600" spc="-50" dirty="0"/>
              <a:t> </a:t>
            </a:r>
            <a:r>
              <a:rPr sz="1600" dirty="0"/>
              <a:t>a</a:t>
            </a:r>
            <a:r>
              <a:rPr sz="1600" spc="-45" dirty="0"/>
              <a:t> </a:t>
            </a:r>
            <a:r>
              <a:rPr sz="1600" dirty="0"/>
              <a:t>permissioned</a:t>
            </a:r>
            <a:r>
              <a:rPr sz="1600" spc="-45" dirty="0"/>
              <a:t> </a:t>
            </a:r>
            <a:r>
              <a:rPr sz="1600" dirty="0"/>
              <a:t>blockchain</a:t>
            </a:r>
            <a:r>
              <a:rPr sz="1600" spc="-50" dirty="0"/>
              <a:t> </a:t>
            </a:r>
            <a:r>
              <a:rPr sz="1600" dirty="0"/>
              <a:t>for</a:t>
            </a:r>
            <a:r>
              <a:rPr sz="1600" spc="-45" dirty="0"/>
              <a:t> </a:t>
            </a:r>
            <a:r>
              <a:rPr sz="1600" dirty="0"/>
              <a:t>trust</a:t>
            </a:r>
            <a:r>
              <a:rPr sz="1600" spc="-45" dirty="0"/>
              <a:t> </a:t>
            </a:r>
            <a:r>
              <a:rPr sz="1600" dirty="0"/>
              <a:t>evaluation</a:t>
            </a:r>
            <a:r>
              <a:rPr sz="1600" spc="-45" dirty="0"/>
              <a:t> </a:t>
            </a:r>
            <a:r>
              <a:rPr sz="1600" dirty="0"/>
              <a:t>and</a:t>
            </a:r>
            <a:r>
              <a:rPr sz="1600" spc="-50" dirty="0"/>
              <a:t> </a:t>
            </a:r>
            <a:r>
              <a:rPr sz="1600" dirty="0"/>
              <a:t>access</a:t>
            </a:r>
            <a:r>
              <a:rPr sz="1600" spc="-45" dirty="0"/>
              <a:t> </a:t>
            </a:r>
            <a:r>
              <a:rPr sz="1600" spc="-10" dirty="0"/>
              <a:t>control.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00"/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600" dirty="0"/>
              <a:t>Use</a:t>
            </a:r>
            <a:r>
              <a:rPr sz="1600" spc="-40" dirty="0"/>
              <a:t> </a:t>
            </a:r>
            <a:r>
              <a:rPr sz="1600" dirty="0"/>
              <a:t>public</a:t>
            </a:r>
            <a:r>
              <a:rPr sz="1600" spc="-35" dirty="0"/>
              <a:t> </a:t>
            </a:r>
            <a:r>
              <a:rPr sz="1600" dirty="0"/>
              <a:t>blockchain</a:t>
            </a:r>
            <a:r>
              <a:rPr sz="1600" spc="-35" dirty="0"/>
              <a:t> </a:t>
            </a:r>
            <a:r>
              <a:rPr sz="1600" dirty="0"/>
              <a:t>tokens</a:t>
            </a:r>
            <a:r>
              <a:rPr sz="1600" spc="-35" dirty="0"/>
              <a:t> </a:t>
            </a:r>
            <a:r>
              <a:rPr sz="1600" dirty="0"/>
              <a:t>for</a:t>
            </a:r>
            <a:r>
              <a:rPr sz="1600" spc="-35" dirty="0"/>
              <a:t> </a:t>
            </a:r>
            <a:r>
              <a:rPr sz="1600" dirty="0"/>
              <a:t>rewarding</a:t>
            </a:r>
            <a:r>
              <a:rPr sz="1600" spc="-40" dirty="0"/>
              <a:t> </a:t>
            </a:r>
            <a:r>
              <a:rPr sz="1600" dirty="0"/>
              <a:t>data</a:t>
            </a:r>
            <a:r>
              <a:rPr sz="1600" spc="-35" dirty="0"/>
              <a:t> </a:t>
            </a:r>
            <a:r>
              <a:rPr sz="1600" spc="-10" dirty="0"/>
              <a:t>contribution</a:t>
            </a:r>
            <a:r>
              <a:rPr sz="1600" spc="-35" dirty="0"/>
              <a:t> </a:t>
            </a:r>
            <a:r>
              <a:rPr sz="1600" dirty="0"/>
              <a:t>and</a:t>
            </a:r>
            <a:r>
              <a:rPr sz="1600" spc="-35" dirty="0"/>
              <a:t> </a:t>
            </a:r>
            <a:r>
              <a:rPr sz="1600" spc="-10" dirty="0"/>
              <a:t>consumption.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00"/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600" dirty="0"/>
              <a:t>Improve</a:t>
            </a:r>
            <a:r>
              <a:rPr sz="1600" spc="-50" dirty="0"/>
              <a:t> </a:t>
            </a:r>
            <a:r>
              <a:rPr sz="1600" dirty="0"/>
              <a:t>data</a:t>
            </a:r>
            <a:r>
              <a:rPr sz="1600" spc="-50" dirty="0"/>
              <a:t> </a:t>
            </a:r>
            <a:r>
              <a:rPr sz="1600" spc="-10" dirty="0"/>
              <a:t>integrity,</a:t>
            </a:r>
            <a:r>
              <a:rPr sz="1600" spc="-45" dirty="0"/>
              <a:t> </a:t>
            </a:r>
            <a:r>
              <a:rPr sz="1600" spc="-10" dirty="0"/>
              <a:t>privacy,</a:t>
            </a:r>
            <a:r>
              <a:rPr sz="1600" spc="-50" dirty="0"/>
              <a:t> </a:t>
            </a:r>
            <a:r>
              <a:rPr sz="1600" dirty="0"/>
              <a:t>and</a:t>
            </a:r>
            <a:r>
              <a:rPr sz="1600" spc="-45" dirty="0"/>
              <a:t> </a:t>
            </a:r>
            <a:r>
              <a:rPr sz="1600" dirty="0"/>
              <a:t>controlled</a:t>
            </a:r>
            <a:r>
              <a:rPr sz="1600" spc="-50" dirty="0"/>
              <a:t> </a:t>
            </a:r>
            <a:r>
              <a:rPr sz="1600" dirty="0"/>
              <a:t>access</a:t>
            </a:r>
            <a:r>
              <a:rPr sz="1600" spc="-45" dirty="0"/>
              <a:t> </a:t>
            </a:r>
            <a:r>
              <a:rPr sz="1600" dirty="0"/>
              <a:t>in</a:t>
            </a:r>
            <a:r>
              <a:rPr sz="1600" spc="-50" dirty="0"/>
              <a:t> </a:t>
            </a:r>
            <a:r>
              <a:rPr sz="1600" dirty="0"/>
              <a:t>IoT</a:t>
            </a:r>
            <a:r>
              <a:rPr sz="1600" spc="-70" dirty="0"/>
              <a:t> </a:t>
            </a:r>
            <a:r>
              <a:rPr sz="1600" dirty="0"/>
              <a:t>big</a:t>
            </a:r>
            <a:r>
              <a:rPr sz="1600" spc="-50" dirty="0"/>
              <a:t> </a:t>
            </a:r>
            <a:r>
              <a:rPr sz="1600" dirty="0"/>
              <a:t>data</a:t>
            </a:r>
            <a:r>
              <a:rPr sz="1600" spc="-50" dirty="0"/>
              <a:t> </a:t>
            </a:r>
            <a:r>
              <a:rPr sz="1600" spc="-10" dirty="0"/>
              <a:t>systems.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68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336039" y="2190724"/>
            <a:ext cx="8668385" cy="454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spc="27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1700" spc="29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focuses</a:t>
            </a:r>
            <a:r>
              <a:rPr sz="1700" spc="28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700" spc="28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making</a:t>
            </a:r>
            <a:r>
              <a:rPr sz="1700" spc="29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700" spc="2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devices</a:t>
            </a:r>
            <a:r>
              <a:rPr sz="1700" spc="29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1700" spc="28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sz="1700" spc="28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28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trustworthy</a:t>
            </a:r>
            <a:r>
              <a:rPr sz="1700" spc="29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1700" spc="28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blockchain technology.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354965" marR="5080" indent="-342900">
              <a:lnSpc>
                <a:spcPct val="15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700" spc="8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devices,</a:t>
            </a:r>
            <a:r>
              <a:rPr sz="1700" spc="1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700" spc="1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1700" spc="1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sensors,</a:t>
            </a:r>
            <a:r>
              <a:rPr sz="1700" spc="1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often</a:t>
            </a:r>
            <a:r>
              <a:rPr sz="1700" spc="1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send</a:t>
            </a:r>
            <a:r>
              <a:rPr sz="1700" spc="1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important</a:t>
            </a:r>
            <a:r>
              <a:rPr sz="1700" spc="1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data,</a:t>
            </a:r>
            <a:r>
              <a:rPr sz="1700" spc="1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1700" spc="1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they</a:t>
            </a:r>
            <a:r>
              <a:rPr sz="1700" spc="1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700" spc="1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700" spc="1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hacked</a:t>
            </a:r>
            <a:r>
              <a:rPr sz="1700" spc="1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700" spc="1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send</a:t>
            </a:r>
            <a:r>
              <a:rPr sz="1700" spc="1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false information.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issue,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700" spc="-6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assigned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score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behavior.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score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stored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blockchain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cannot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altered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faked.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354965" marR="5080" indent="-342900">
              <a:lnSpc>
                <a:spcPct val="150000"/>
              </a:lnSpc>
              <a:spcBef>
                <a:spcPts val="1000"/>
              </a:spcBef>
              <a:tabLst>
                <a:tab pos="39687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spc="7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website</a:t>
            </a:r>
            <a:r>
              <a:rPr sz="1700" spc="1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dashboard</a:t>
            </a:r>
            <a:r>
              <a:rPr sz="1700" spc="1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spc="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provided</a:t>
            </a:r>
            <a:r>
              <a:rPr sz="1700" spc="1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spc="1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administrators</a:t>
            </a:r>
            <a:r>
              <a:rPr sz="1700" spc="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spc="1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view</a:t>
            </a:r>
            <a:r>
              <a:rPr sz="1700" spc="1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scores</a:t>
            </a:r>
            <a:r>
              <a:rPr sz="1700" spc="1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1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monitor</a:t>
            </a:r>
            <a:r>
              <a:rPr sz="17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 activity.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354965" marR="5080" indent="-342900">
              <a:lnSpc>
                <a:spcPct val="15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 system improves IoT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security,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ensures</a:t>
            </a:r>
            <a:r>
              <a:rPr sz="17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transparency,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and</a:t>
            </a:r>
            <a:r>
              <a:rPr sz="17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increases reliability</a:t>
            </a:r>
            <a:r>
              <a:rPr sz="17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real-world applications.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1040">
              <a:lnSpc>
                <a:spcPct val="100000"/>
              </a:lnSpc>
              <a:spcBef>
                <a:spcPts val="100"/>
              </a:spcBef>
            </a:pPr>
            <a:r>
              <a:rPr b="0" spc="-45" dirty="0"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b="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REVIEW</a:t>
            </a:r>
            <a:endParaRPr b="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5906" y="2474508"/>
            <a:ext cx="10064750" cy="34226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191135" algn="just">
              <a:lnSpc>
                <a:spcPct val="137000"/>
              </a:lnSpc>
              <a:spcBef>
                <a:spcPts val="205"/>
              </a:spcBef>
              <a:buAutoNum type="arabicPeriod"/>
              <a:tabLst>
                <a:tab pos="203835" algn="l"/>
              </a:tabLst>
            </a:pPr>
            <a:r>
              <a:rPr sz="15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Aloysius,</a:t>
            </a:r>
            <a:r>
              <a:rPr sz="1500" b="1" spc="1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A.,</a:t>
            </a:r>
            <a:r>
              <a:rPr sz="1500" b="1" spc="2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500" b="1" spc="2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Arulkumar,</a:t>
            </a:r>
            <a:r>
              <a:rPr sz="1500" b="1" spc="18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V.</a:t>
            </a:r>
            <a:r>
              <a:rPr sz="1500" b="1" spc="2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(2025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),</a:t>
            </a:r>
            <a:r>
              <a:rPr sz="1700" b="1" spc="2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“Advancing</a:t>
            </a:r>
            <a:r>
              <a:rPr sz="1500" spc="229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500" spc="18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Security</a:t>
            </a:r>
            <a:r>
              <a:rPr sz="1500" spc="2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1500" spc="229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Blockchain-Driven</a:t>
            </a:r>
            <a:r>
              <a:rPr sz="1500" spc="2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Dynamic</a:t>
            </a:r>
            <a:r>
              <a:rPr sz="1500" spc="18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500" spc="2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Evaluation,”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Indian</a:t>
            </a:r>
            <a:r>
              <a:rPr sz="1500" spc="-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Journal</a:t>
            </a:r>
            <a:r>
              <a:rPr sz="15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500" spc="-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15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Technology,</a:t>
            </a:r>
            <a:r>
              <a:rPr sz="1500" spc="-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vol.</a:t>
            </a:r>
            <a:r>
              <a:rPr sz="1500" spc="-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18,</a:t>
            </a:r>
            <a:r>
              <a:rPr sz="1500" spc="-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sz="1500" spc="-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25,</a:t>
            </a:r>
            <a:r>
              <a:rPr sz="1500" spc="-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pp.</a:t>
            </a:r>
            <a:r>
              <a:rPr sz="1500" spc="-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1–9,</a:t>
            </a:r>
            <a:r>
              <a:rPr sz="1500" spc="-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2025.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40000"/>
              </a:lnSpc>
              <a:spcBef>
                <a:spcPts val="1000"/>
              </a:spcBef>
            </a:pPr>
            <a:r>
              <a:rPr sz="15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Summary:</a:t>
            </a:r>
            <a:r>
              <a:rPr sz="1500" b="1" spc="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1500" spc="20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500" spc="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blockchain-based</a:t>
            </a:r>
            <a:r>
              <a:rPr sz="1500" spc="20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Dynamic</a:t>
            </a:r>
            <a:r>
              <a:rPr sz="1500" spc="17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5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Evaluation</a:t>
            </a:r>
            <a:r>
              <a:rPr sz="1500" spc="2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Framework</a:t>
            </a:r>
            <a:r>
              <a:rPr sz="1500" spc="2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00" spc="2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500" spc="17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1500" spc="10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Attribute-Based</a:t>
            </a:r>
            <a:r>
              <a:rPr sz="1500" spc="1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1500" spc="2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Control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(ABAC)</a:t>
            </a:r>
            <a:r>
              <a:rPr sz="1500" spc="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Elliptic</a:t>
            </a:r>
            <a:r>
              <a:rPr sz="1500" spc="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Curve</a:t>
            </a:r>
            <a:r>
              <a:rPr sz="1500" spc="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Digital</a:t>
            </a:r>
            <a:r>
              <a:rPr sz="1500" spc="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Signature</a:t>
            </a:r>
            <a:r>
              <a:rPr sz="15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Algorithm</a:t>
            </a:r>
            <a:r>
              <a:rPr sz="1500" spc="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(ECDSA).</a:t>
            </a:r>
            <a:r>
              <a:rPr sz="1500" spc="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spc="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framework</a:t>
            </a:r>
            <a:r>
              <a:rPr sz="1500" spc="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achieved</a:t>
            </a:r>
            <a:r>
              <a:rPr sz="1500" spc="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95.2%</a:t>
            </a:r>
            <a:r>
              <a:rPr sz="1500" spc="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accuracy</a:t>
            </a:r>
            <a:r>
              <a:rPr sz="1500" spc="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500" spc="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detecting</a:t>
            </a:r>
            <a:r>
              <a:rPr sz="1500" spc="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attacks</a:t>
            </a:r>
            <a:r>
              <a:rPr sz="13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. </a:t>
            </a:r>
            <a:r>
              <a:rPr sz="15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Limitations:</a:t>
            </a:r>
            <a:r>
              <a:rPr sz="1500" b="1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Scalability</a:t>
            </a:r>
            <a:r>
              <a:rPr sz="15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energy</a:t>
            </a:r>
            <a:r>
              <a:rPr sz="15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efficiency</a:t>
            </a:r>
            <a:r>
              <a:rPr sz="15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15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world</a:t>
            </a:r>
            <a:r>
              <a:rPr sz="15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500" spc="-6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conditions</a:t>
            </a:r>
            <a:r>
              <a:rPr sz="15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remain</a:t>
            </a:r>
            <a:r>
              <a:rPr sz="15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untested.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39370" indent="-8890" algn="just">
              <a:lnSpc>
                <a:spcPct val="140000"/>
              </a:lnSpc>
              <a:spcBef>
                <a:spcPts val="975"/>
              </a:spcBef>
              <a:buSzPct val="97000"/>
              <a:buAutoNum type="arabicPeriod" startAt="2"/>
              <a:tabLst>
                <a:tab pos="173355" algn="l"/>
              </a:tabLst>
            </a:pP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Almarri,</a:t>
            </a:r>
            <a:r>
              <a:rPr sz="1600" b="1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S.,</a:t>
            </a:r>
            <a:r>
              <a:rPr sz="1600" b="1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600" b="1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Aljughaiman,</a:t>
            </a:r>
            <a:r>
              <a:rPr sz="1600" b="1" spc="-9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A.</a:t>
            </a:r>
            <a:r>
              <a:rPr sz="1600" b="1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(2025),</a:t>
            </a:r>
            <a:r>
              <a:rPr sz="1600" b="1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“Blockchain</a:t>
            </a:r>
            <a:r>
              <a:rPr sz="1700" spc="-6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700" spc="-6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Security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-6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Trust,”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Journal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Emerging Technologies,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vol.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12,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4,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pp.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44–53,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2025.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745"/>
              </a:spcBef>
            </a:pPr>
            <a:r>
              <a:rPr sz="15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Summary:</a:t>
            </a:r>
            <a:r>
              <a:rPr sz="1500" b="1" spc="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Reviewed</a:t>
            </a:r>
            <a:r>
              <a:rPr sz="1500" spc="20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blockchain’s</a:t>
            </a:r>
            <a:r>
              <a:rPr sz="1500" spc="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role</a:t>
            </a:r>
            <a:r>
              <a:rPr sz="1500" spc="1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500" spc="20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500" spc="1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500" spc="1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20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sustainability,</a:t>
            </a:r>
            <a:r>
              <a:rPr sz="1500" spc="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highlighting</a:t>
            </a:r>
            <a:r>
              <a:rPr sz="1500" spc="2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benefits</a:t>
            </a:r>
            <a:r>
              <a:rPr sz="1500" spc="2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500" spc="2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5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grids</a:t>
            </a:r>
            <a:r>
              <a:rPr sz="1500" spc="2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2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supply</a:t>
            </a:r>
            <a:r>
              <a:rPr sz="1500" spc="2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chains.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720"/>
              </a:spcBef>
            </a:pPr>
            <a:r>
              <a:rPr sz="15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Limitations:</a:t>
            </a:r>
            <a:r>
              <a:rPr sz="1500" b="1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Lacks</a:t>
            </a:r>
            <a:r>
              <a:rPr sz="1500" spc="-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world</a:t>
            </a:r>
            <a:r>
              <a:rPr sz="1500" spc="-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500" spc="-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integration</a:t>
            </a:r>
            <a:r>
              <a:rPr sz="1500" spc="-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strategies</a:t>
            </a:r>
            <a:r>
              <a:rPr sz="1500" spc="-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00" spc="-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legacy</a:t>
            </a:r>
            <a:r>
              <a:rPr sz="15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5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systems.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1040">
              <a:lnSpc>
                <a:spcPct val="100000"/>
              </a:lnSpc>
              <a:spcBef>
                <a:spcPts val="100"/>
              </a:spcBef>
            </a:pPr>
            <a:r>
              <a:rPr b="0" spc="-45" dirty="0"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b="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REVIEW</a:t>
            </a:r>
            <a:endParaRPr b="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0373" y="2759710"/>
            <a:ext cx="9860280" cy="3342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5575" algn="just">
              <a:lnSpc>
                <a:spcPct val="100000"/>
              </a:lnSpc>
              <a:spcBef>
                <a:spcPts val="95"/>
              </a:spcBef>
              <a:buSzPct val="94000"/>
              <a:buAutoNum type="arabicPeriod" startAt="3"/>
              <a:tabLst>
                <a:tab pos="168275" algn="l"/>
              </a:tabLst>
            </a:pP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Zhaofeng,</a:t>
            </a:r>
            <a:r>
              <a:rPr sz="1600" b="1" spc="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M.,</a:t>
            </a:r>
            <a:r>
              <a:rPr sz="1600" b="1" spc="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Lingyun,</a:t>
            </a:r>
            <a:r>
              <a:rPr sz="1600" b="1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W.,</a:t>
            </a:r>
            <a:r>
              <a:rPr sz="1600" b="1" spc="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Xiaochang,</a:t>
            </a:r>
            <a:r>
              <a:rPr sz="1600" b="1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W.,</a:t>
            </a:r>
            <a:r>
              <a:rPr sz="1600" b="1" spc="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Zhen,</a:t>
            </a:r>
            <a:r>
              <a:rPr sz="1600" b="1" spc="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W.,</a:t>
            </a:r>
            <a:r>
              <a:rPr sz="1600" b="1" spc="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600" b="1" spc="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Weizhe,</a:t>
            </a:r>
            <a:r>
              <a:rPr sz="1600" b="1" spc="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Z.</a:t>
            </a:r>
            <a:r>
              <a:rPr sz="1600" b="1" spc="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(2025),</a:t>
            </a:r>
            <a:r>
              <a:rPr sz="1600" b="1" spc="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“Blockchain-Enabled</a:t>
            </a:r>
            <a:r>
              <a:rPr sz="1600" spc="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Decentralized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600" spc="1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1600" spc="1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1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sz="1600" spc="1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Usage</a:t>
            </a:r>
            <a:r>
              <a:rPr sz="1600" spc="1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600" spc="1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spc="1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600" spc="10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Big</a:t>
            </a:r>
            <a:r>
              <a:rPr sz="1600" spc="1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Data,”</a:t>
            </a:r>
            <a:r>
              <a:rPr sz="1600" spc="1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1600" spc="1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Internet</a:t>
            </a:r>
            <a:r>
              <a:rPr sz="1600" spc="1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spc="11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Things</a:t>
            </a:r>
            <a:r>
              <a:rPr sz="1600" spc="1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Journal</a:t>
            </a:r>
            <a:r>
              <a:rPr sz="1600" i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600" i="1" spc="1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vol.</a:t>
            </a:r>
            <a:r>
              <a:rPr sz="1600" spc="1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12,</a:t>
            </a:r>
            <a:r>
              <a:rPr sz="1600" spc="1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sz="1600" spc="1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2,</a:t>
            </a:r>
            <a:r>
              <a:rPr sz="1600" spc="1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pp. </a:t>
            </a:r>
            <a:r>
              <a:rPr sz="16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1120–1133,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2025.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Summary:</a:t>
            </a:r>
            <a:r>
              <a:rPr sz="1600" b="1" spc="1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1600" spc="10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10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blockchain-based</a:t>
            </a:r>
            <a:r>
              <a:rPr sz="1600" spc="10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decentralized</a:t>
            </a:r>
            <a:r>
              <a:rPr sz="1600" spc="10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600" spc="10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framework</a:t>
            </a:r>
            <a:r>
              <a:rPr sz="1600" spc="10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spc="10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600" spc="7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big</a:t>
            </a:r>
            <a:r>
              <a:rPr sz="1600" spc="10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600" spc="11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1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improve</a:t>
            </a:r>
            <a:r>
              <a:rPr sz="1600" spc="11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transparency</a:t>
            </a:r>
            <a:r>
              <a:rPr sz="1600" spc="11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usage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control.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Limitations:</a:t>
            </a:r>
            <a:r>
              <a:rPr sz="1600" b="1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Introduces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computational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overhead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struggle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large-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scale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600" spc="-7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performance.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 indent="-2540" algn="just">
              <a:lnSpc>
                <a:spcPct val="100000"/>
              </a:lnSpc>
              <a:spcBef>
                <a:spcPts val="1000"/>
              </a:spcBef>
              <a:buSzPct val="94000"/>
              <a:buAutoNum type="arabicPeriod" startAt="4"/>
              <a:tabLst>
                <a:tab pos="165735" algn="l"/>
              </a:tabLst>
            </a:pP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	Qian, Q.,</a:t>
            </a:r>
            <a:r>
              <a:rPr sz="1600" b="1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et al.</a:t>
            </a:r>
            <a:r>
              <a:rPr sz="1600" b="1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(2025),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“A</a:t>
            </a:r>
            <a:r>
              <a:rPr sz="1600" spc="-8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Multi-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layer</a:t>
            </a:r>
            <a:r>
              <a:rPr sz="16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Information Dispersal</a:t>
            </a:r>
            <a:r>
              <a:rPr sz="16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Based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Encryption</a:t>
            </a:r>
            <a:r>
              <a:rPr sz="1600" spc="-8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Algorithm</a:t>
            </a:r>
            <a:r>
              <a:rPr sz="1600" spc="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spc="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Client-Side</a:t>
            </a:r>
            <a:r>
              <a:rPr sz="1600" spc="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Security</a:t>
            </a:r>
            <a:r>
              <a:rPr sz="1600" spc="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Cloud</a:t>
            </a:r>
            <a:r>
              <a:rPr sz="16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Storage,”</a:t>
            </a:r>
            <a:r>
              <a:rPr sz="16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sz="16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Generation</a:t>
            </a:r>
            <a:r>
              <a:rPr sz="16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16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Systems,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vol.</a:t>
            </a:r>
            <a:r>
              <a:rPr sz="16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148,</a:t>
            </a:r>
            <a:r>
              <a:rPr sz="16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pp.</a:t>
            </a:r>
            <a:r>
              <a:rPr sz="16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233–242,</a:t>
            </a:r>
            <a:r>
              <a:rPr sz="16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2025.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Summary:</a:t>
            </a:r>
            <a:r>
              <a:rPr sz="1600" b="1" spc="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Introduced</a:t>
            </a:r>
            <a:r>
              <a:rPr sz="1600" spc="1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1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multi-layer</a:t>
            </a:r>
            <a:r>
              <a:rPr sz="1600" spc="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information</a:t>
            </a:r>
            <a:r>
              <a:rPr sz="1600" spc="1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dispersal</a:t>
            </a:r>
            <a:r>
              <a:rPr sz="1600" spc="1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encryption</a:t>
            </a:r>
            <a:r>
              <a:rPr sz="1600" spc="1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method</a:t>
            </a:r>
            <a:r>
              <a:rPr sz="1600" spc="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1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sz="1600" spc="1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600" spc="6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cloud</a:t>
            </a:r>
            <a:r>
              <a:rPr sz="1600" spc="10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storage</a:t>
            </a:r>
            <a:r>
              <a:rPr sz="1600" spc="1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1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protect client-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side</a:t>
            </a:r>
            <a:r>
              <a:rPr sz="16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data.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Limitations:</a:t>
            </a:r>
            <a:r>
              <a:rPr sz="1600" b="1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Focused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mainly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storage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security;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does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provide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decentralized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600" spc="-7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management.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1040">
              <a:lnSpc>
                <a:spcPct val="100000"/>
              </a:lnSpc>
              <a:spcBef>
                <a:spcPts val="100"/>
              </a:spcBef>
            </a:pPr>
            <a:r>
              <a:rPr b="0" spc="-45" dirty="0"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b="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REVIEW</a:t>
            </a:r>
            <a:endParaRPr b="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690" y="2435923"/>
            <a:ext cx="9254490" cy="150622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30"/>
              </a:spcBef>
            </a:pP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5.</a:t>
            </a:r>
            <a:r>
              <a:rPr sz="1600" b="1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Zhou,</a:t>
            </a:r>
            <a:r>
              <a:rPr sz="1600" b="1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P.,</a:t>
            </a:r>
            <a:r>
              <a:rPr sz="1600" b="1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1600" b="1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al.</a:t>
            </a:r>
            <a:r>
              <a:rPr sz="1600" b="1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(2025),</a:t>
            </a:r>
            <a:r>
              <a:rPr sz="1600" b="1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“Differentially-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private</a:t>
            </a:r>
            <a:r>
              <a:rPr sz="16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Trustworthy</a:t>
            </a:r>
            <a:r>
              <a:rPr sz="16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Online</a:t>
            </a:r>
            <a:r>
              <a:rPr sz="16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6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Multimedia</a:t>
            </a:r>
            <a:r>
              <a:rPr sz="16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Big</a:t>
            </a:r>
            <a:r>
              <a:rPr sz="16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6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Retrieval,”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1600" spc="-6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Transactions</a:t>
            </a:r>
            <a:r>
              <a:rPr sz="16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6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Multimedia,</a:t>
            </a:r>
            <a:r>
              <a:rPr sz="16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vol.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27,</a:t>
            </a:r>
            <a:r>
              <a:rPr sz="16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sz="16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5,</a:t>
            </a:r>
            <a:r>
              <a:rPr sz="16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pp.</a:t>
            </a:r>
            <a:r>
              <a:rPr sz="16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989–1003,</a:t>
            </a:r>
            <a:r>
              <a:rPr sz="16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2025</a:t>
            </a:r>
            <a:r>
              <a:rPr sz="1600" spc="-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.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12700" marR="339090">
              <a:lnSpc>
                <a:spcPct val="100000"/>
              </a:lnSpc>
              <a:spcBef>
                <a:spcPts val="935"/>
              </a:spcBef>
            </a:pP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Summary:</a:t>
            </a:r>
            <a:r>
              <a:rPr sz="1600" b="1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Developed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differentially-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private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retrieval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framework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6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evaluation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online</a:t>
            </a:r>
            <a:r>
              <a:rPr sz="16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social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multimedia</a:t>
            </a:r>
            <a:r>
              <a:rPr sz="1600" spc="-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systems.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Limitations:</a:t>
            </a:r>
            <a:r>
              <a:rPr sz="1600" b="1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Domain-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specific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multimedia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retrieval;</a:t>
            </a:r>
            <a:r>
              <a:rPr sz="16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adaptable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heterogeneous</a:t>
            </a:r>
            <a:r>
              <a:rPr sz="16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600" spc="-7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environments</a:t>
            </a:r>
            <a:r>
              <a:rPr sz="1600" spc="-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.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574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33690" y="2601594"/>
            <a:ext cx="8700770" cy="28911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36830" indent="-342900" algn="just">
              <a:lnSpc>
                <a:spcPts val="1840"/>
              </a:lnSpc>
              <a:spcBef>
                <a:spcPts val="330"/>
              </a:spcBef>
            </a:pPr>
            <a:r>
              <a:rPr sz="1300" spc="9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00" spc="2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  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700" spc="2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spc="2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1700" spc="2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700" spc="1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2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1700" spc="2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systems,</a:t>
            </a:r>
            <a:r>
              <a:rPr sz="1700" spc="2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1700" spc="2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devices</a:t>
            </a:r>
            <a:r>
              <a:rPr sz="1700" spc="2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1700" spc="2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controlled</a:t>
            </a:r>
            <a:r>
              <a:rPr sz="1700" spc="2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700" spc="2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spc="25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centralized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server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1700" spc="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server</a:t>
            </a:r>
            <a:r>
              <a:rPr sz="1700" spc="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spc="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responsible</a:t>
            </a:r>
            <a:r>
              <a:rPr sz="1700" spc="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spc="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giving</a:t>
            </a:r>
            <a:r>
              <a:rPr sz="1700" spc="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values</a:t>
            </a:r>
            <a:r>
              <a:rPr sz="1700" spc="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spc="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devices</a:t>
            </a:r>
            <a:r>
              <a:rPr sz="1700" spc="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deciding</a:t>
            </a:r>
            <a:r>
              <a:rPr sz="1700" spc="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which</a:t>
            </a:r>
            <a:r>
              <a:rPr sz="1700" spc="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devices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share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data.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approach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has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many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problems: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354965" indent="-342265" algn="just">
              <a:lnSpc>
                <a:spcPct val="100000"/>
              </a:lnSpc>
              <a:spcBef>
                <a:spcPts val="760"/>
              </a:spcBef>
              <a:buClr>
                <a:srgbClr val="B31166"/>
              </a:buClr>
              <a:buSzPct val="76000"/>
              <a:buAutoNum type="arabicPeriod"/>
              <a:tabLst>
                <a:tab pos="354965" algn="l"/>
              </a:tabLst>
            </a:pP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Single</a:t>
            </a:r>
            <a:r>
              <a:rPr sz="1700" b="1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Point</a:t>
            </a:r>
            <a:r>
              <a:rPr sz="1700" b="1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b="1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Failure</a:t>
            </a:r>
            <a:r>
              <a:rPr sz="1700" b="1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700" b="1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server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goes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down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hacked,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whole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stops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working.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355600" marR="36830" indent="-342900">
              <a:lnSpc>
                <a:spcPts val="1830"/>
              </a:lnSpc>
              <a:spcBef>
                <a:spcPts val="1030"/>
              </a:spcBef>
              <a:buClr>
                <a:srgbClr val="B31166"/>
              </a:buClr>
              <a:buSzPct val="76000"/>
              <a:buAutoNum type="arabicPeriod"/>
              <a:tabLst>
                <a:tab pos="355600" algn="l"/>
              </a:tabLst>
            </a:pP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700" b="1" spc="16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Tampering</a:t>
            </a:r>
            <a:r>
              <a:rPr sz="1700" b="1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7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Since</a:t>
            </a:r>
            <a:r>
              <a:rPr sz="17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1700" spc="20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values</a:t>
            </a:r>
            <a:r>
              <a:rPr sz="17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1700" spc="20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stored</a:t>
            </a:r>
            <a:r>
              <a:rPr sz="17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7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1700" spc="20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place,</a:t>
            </a:r>
            <a:r>
              <a:rPr sz="17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7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attacker</a:t>
            </a:r>
            <a:r>
              <a:rPr sz="1700" spc="204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700" spc="2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insider</a:t>
            </a:r>
            <a:r>
              <a:rPr sz="1700" spc="2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easily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change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them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without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being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noticed.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355600" marR="36830" indent="-342900">
              <a:lnSpc>
                <a:spcPts val="1840"/>
              </a:lnSpc>
              <a:spcBef>
                <a:spcPts val="1000"/>
              </a:spcBef>
              <a:buClr>
                <a:srgbClr val="B31166"/>
              </a:buClr>
              <a:buSzPct val="76000"/>
              <a:buAutoNum type="arabicPeriod"/>
              <a:tabLst>
                <a:tab pos="355600" algn="l"/>
              </a:tabLst>
            </a:pP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Static</a:t>
            </a:r>
            <a:r>
              <a:rPr sz="1700" b="1" spc="17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b="1" spc="2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Scores</a:t>
            </a:r>
            <a:r>
              <a:rPr sz="1700" b="1" spc="2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700" spc="2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</a:t>
            </a:r>
            <a:r>
              <a:rPr sz="1700" spc="229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229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levels</a:t>
            </a:r>
            <a:r>
              <a:rPr sz="1700" spc="2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do</a:t>
            </a:r>
            <a:r>
              <a:rPr sz="1700" spc="229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700" spc="229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update</a:t>
            </a:r>
            <a:r>
              <a:rPr sz="1700" spc="2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dynamically</a:t>
            </a:r>
            <a:r>
              <a:rPr sz="1700" spc="229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700" spc="2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behavior;</a:t>
            </a:r>
            <a:r>
              <a:rPr sz="1700" spc="229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once</a:t>
            </a:r>
            <a:r>
              <a:rPr sz="1700" spc="229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marked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trusted,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stays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trusted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even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later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misbehaves.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355600" marR="50165" indent="-342900">
              <a:lnSpc>
                <a:spcPts val="1840"/>
              </a:lnSpc>
              <a:spcBef>
                <a:spcPts val="990"/>
              </a:spcBef>
              <a:buClr>
                <a:srgbClr val="B31166"/>
              </a:buClr>
              <a:buSzPct val="76000"/>
              <a:buAutoNum type="arabicPeriod"/>
              <a:tabLst>
                <a:tab pos="355600" algn="l"/>
              </a:tabLst>
            </a:pP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Lack</a:t>
            </a:r>
            <a:r>
              <a:rPr sz="1700" b="1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b="1" spc="-6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Transparency</a:t>
            </a:r>
            <a:r>
              <a:rPr sz="1700" b="1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administrators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cannot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verify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how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scores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calculated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updated.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88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33690" y="2731135"/>
            <a:ext cx="8668385" cy="3768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designed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overcome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problems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700" spc="-6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systems.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700" spc="-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</a:t>
            </a:r>
            <a:r>
              <a:rPr sz="17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given</a:t>
            </a:r>
            <a:r>
              <a:rPr sz="17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score</a:t>
            </a:r>
            <a:r>
              <a:rPr sz="17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7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17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behavior.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scores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stored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blockchain,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making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them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tamper-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proof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transparent.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contracts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automatically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decide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which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devices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share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data.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scores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updated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dynamically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cannot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modified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7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attackers.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ensures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improved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security,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transparency,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reliability</a:t>
            </a:r>
            <a:r>
              <a:rPr sz="1700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700" spc="-7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networks.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>
              <a:lnSpc>
                <a:spcPct val="15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spc="-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17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dashboard</a:t>
            </a:r>
            <a:r>
              <a:rPr sz="17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is provided</a:t>
            </a:r>
            <a:r>
              <a:rPr sz="17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administrators to</a:t>
            </a:r>
            <a:r>
              <a:rPr sz="17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view device</a:t>
            </a:r>
            <a:r>
              <a:rPr sz="17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trust</a:t>
            </a:r>
            <a:r>
              <a:rPr sz="1700" spc="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levels, logs,</a:t>
            </a:r>
            <a:r>
              <a:rPr sz="1700" spc="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1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activity</a:t>
            </a:r>
            <a:r>
              <a:rPr sz="1700" spc="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real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time.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1730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Architecture</a:t>
            </a:r>
            <a:r>
              <a:rPr spc="-200" dirty="0"/>
              <a:t> </a:t>
            </a:r>
            <a:r>
              <a:rPr spc="-10" dirty="0"/>
              <a:t>Diagram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29412" y="2510027"/>
            <a:ext cx="1093470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1710">
              <a:lnSpc>
                <a:spcPct val="100000"/>
              </a:lnSpc>
              <a:spcBef>
                <a:spcPts val="100"/>
              </a:spcBef>
            </a:pPr>
            <a:r>
              <a:rPr b="0" spc="-60" dirty="0">
                <a:latin typeface="Verdana" panose="020B0604030504040204"/>
                <a:cs typeface="Verdana" panose="020B0604030504040204"/>
              </a:rPr>
              <a:t>Technologies</a:t>
            </a:r>
            <a:r>
              <a:rPr b="0" spc="-220" dirty="0">
                <a:latin typeface="Verdana" panose="020B0604030504040204"/>
                <a:cs typeface="Verdana" panose="020B0604030504040204"/>
              </a:rPr>
              <a:t> </a:t>
            </a:r>
            <a:r>
              <a:rPr b="0" spc="-20" dirty="0">
                <a:latin typeface="Verdana" panose="020B0604030504040204"/>
                <a:cs typeface="Verdana" panose="020B0604030504040204"/>
              </a:rPr>
              <a:t>used</a:t>
            </a:r>
            <a:endParaRPr b="0" spc="-20" dirty="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690" y="2489108"/>
            <a:ext cx="3390265" cy="236537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8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1800" b="1" spc="-9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Requirements: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b="1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Frontend:</a:t>
            </a:r>
            <a:r>
              <a:rPr sz="1700" b="1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React.js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Backend:</a:t>
            </a:r>
            <a:r>
              <a:rPr sz="1700" b="1" spc="-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Python</a:t>
            </a:r>
            <a:r>
              <a:rPr sz="17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7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Flask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Blockchain</a:t>
            </a:r>
            <a:r>
              <a:rPr sz="1700" b="1" spc="-8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Platform:</a:t>
            </a:r>
            <a:r>
              <a:rPr sz="1700" b="1" spc="-7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Ethereum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Blockchain</a:t>
            </a:r>
            <a:r>
              <a:rPr sz="1700" b="1" spc="-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Integration:</a:t>
            </a:r>
            <a:r>
              <a:rPr sz="1700" b="1" spc="-9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Web3.py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Database:</a:t>
            </a:r>
            <a:r>
              <a:rPr sz="1700" b="1" spc="-5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MongoDB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7270">
              <a:lnSpc>
                <a:spcPct val="100000"/>
              </a:lnSpc>
              <a:spcBef>
                <a:spcPts val="100"/>
              </a:spcBef>
            </a:pPr>
            <a:r>
              <a:rPr b="0" spc="-60" dirty="0">
                <a:latin typeface="Verdana" panose="020B0604030504040204"/>
                <a:cs typeface="Verdana" panose="020B0604030504040204"/>
              </a:rPr>
              <a:t>Technologies</a:t>
            </a:r>
            <a:r>
              <a:rPr b="0" spc="-220" dirty="0">
                <a:latin typeface="Verdana" panose="020B0604030504040204"/>
                <a:cs typeface="Verdana" panose="020B0604030504040204"/>
              </a:rPr>
              <a:t> </a:t>
            </a:r>
            <a:r>
              <a:rPr b="0" spc="-20" dirty="0">
                <a:latin typeface="Verdana" panose="020B0604030504040204"/>
                <a:cs typeface="Verdana" panose="020B0604030504040204"/>
              </a:rPr>
              <a:t>used</a:t>
            </a:r>
            <a:endParaRPr b="0" spc="-20" dirty="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690" y="2489108"/>
            <a:ext cx="4638040" cy="159321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8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Hardware</a:t>
            </a:r>
            <a:r>
              <a:rPr sz="1800" b="1" spc="-9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Requirements: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Processor:</a:t>
            </a:r>
            <a:r>
              <a:rPr sz="1700" b="1" spc="-4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RAM:</a:t>
            </a:r>
            <a:r>
              <a:rPr sz="1700" b="1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(Minimum</a:t>
            </a:r>
            <a:r>
              <a:rPr sz="1700" spc="-5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GB)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Hard</a:t>
            </a:r>
            <a:r>
              <a:rPr sz="1700" b="1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Disk:</a:t>
            </a:r>
            <a:r>
              <a:rPr sz="1700" b="1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least</a:t>
            </a:r>
            <a:r>
              <a:rPr sz="1700" spc="-3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256</a:t>
            </a:r>
            <a:r>
              <a:rPr sz="1700" spc="-2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GB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3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1700" b="1" spc="-7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Device: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ESP32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(with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DHT11/DHT22</a:t>
            </a:r>
            <a:r>
              <a:rPr sz="17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sensor)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7285">
              <a:lnSpc>
                <a:spcPct val="100000"/>
              </a:lnSpc>
              <a:spcBef>
                <a:spcPts val="100"/>
              </a:spcBef>
            </a:pPr>
            <a:r>
              <a:rPr b="0" spc="-3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OUTPUTS</a:t>
            </a:r>
            <a:endParaRPr b="0" spc="-360" dirty="0">
              <a:solidFill>
                <a:srgbClr val="FFFFFF"/>
              </a:solidFill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690" y="2484881"/>
            <a:ext cx="4938510" cy="249555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1E172C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Home</a:t>
            </a:r>
            <a:r>
              <a:rPr sz="3200" spc="-3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Page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1E172C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3200" spc="-75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Device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1E172C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lang="en-US" sz="3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Blockchain Records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1E172C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Final</a:t>
            </a:r>
            <a:r>
              <a:rPr sz="3200" spc="-4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 panose="02020603050405020304"/>
                <a:cs typeface="Times New Roman" panose="02020603050405020304"/>
              </a:rPr>
              <a:t>Output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92815" y="1028915"/>
            <a:ext cx="2637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HOME</a:t>
            </a:r>
            <a:r>
              <a:rPr b="0" spc="-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PAGE</a:t>
            </a:r>
            <a:endParaRPr b="0" spc="-6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2438400"/>
            <a:ext cx="7342505" cy="41998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93976" y="2529839"/>
            <a:ext cx="7638288" cy="39898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IOT</a:t>
            </a:r>
            <a:r>
              <a:rPr b="0" spc="-1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DEVICE</a:t>
            </a:r>
            <a:endParaRPr b="0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3169" y="1011770"/>
            <a:ext cx="99294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5900">
              <a:lnSpc>
                <a:spcPct val="100000"/>
              </a:lnSpc>
              <a:spcBef>
                <a:spcPts val="100"/>
              </a:spcBef>
            </a:pPr>
            <a:r>
              <a:rPr lang="en-US" b="0" spc="-20">
                <a:solidFill>
                  <a:srgbClr val="FFFFFF"/>
                </a:solidFill>
              </a:rPr>
              <a:t>Blockchain Records</a:t>
            </a:r>
            <a:endParaRPr b="0" spc="-2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286000"/>
            <a:ext cx="8797290" cy="40786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FINAL</a:t>
            </a:r>
            <a:r>
              <a:rPr b="0" spc="-1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OUTPUT</a:t>
            </a:r>
            <a:endParaRPr b="0" spc="-10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2438400"/>
            <a:ext cx="8394065" cy="41865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009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imes New Roman" panose="02020603050405020304"/>
                <a:cs typeface="Times New Roman" panose="02020603050405020304"/>
              </a:rPr>
              <a:t>Conclusion</a:t>
            </a:r>
            <a:endParaRPr b="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9186" rIns="0" bIns="0" rtlCol="0">
            <a:spAutoFit/>
          </a:bodyPr>
          <a:lstStyle/>
          <a:p>
            <a:pPr marL="355600" marR="5080" indent="-342900">
              <a:lnSpc>
                <a:spcPct val="143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500" dirty="0"/>
              <a:t>The</a:t>
            </a:r>
            <a:r>
              <a:rPr sz="1500" spc="10" dirty="0"/>
              <a:t> </a:t>
            </a:r>
            <a:r>
              <a:rPr sz="1500" dirty="0"/>
              <a:t>blockchain-based</a:t>
            </a:r>
            <a:r>
              <a:rPr sz="1500" spc="15" dirty="0"/>
              <a:t> </a:t>
            </a:r>
            <a:r>
              <a:rPr sz="1500" dirty="0"/>
              <a:t>system</a:t>
            </a:r>
            <a:r>
              <a:rPr sz="1500" spc="15" dirty="0"/>
              <a:t> </a:t>
            </a:r>
            <a:r>
              <a:rPr sz="1500" dirty="0"/>
              <a:t>offers</a:t>
            </a:r>
            <a:r>
              <a:rPr sz="1500" spc="15" dirty="0"/>
              <a:t> </a:t>
            </a:r>
            <a:r>
              <a:rPr sz="1500" dirty="0"/>
              <a:t>a</a:t>
            </a:r>
            <a:r>
              <a:rPr sz="1500" spc="15" dirty="0"/>
              <a:t> </a:t>
            </a:r>
            <a:r>
              <a:rPr sz="1500" dirty="0"/>
              <a:t>secure</a:t>
            </a:r>
            <a:r>
              <a:rPr sz="1500" spc="10" dirty="0"/>
              <a:t> </a:t>
            </a:r>
            <a:r>
              <a:rPr sz="1500" dirty="0"/>
              <a:t>and</a:t>
            </a:r>
            <a:r>
              <a:rPr sz="1500" spc="15" dirty="0"/>
              <a:t> </a:t>
            </a:r>
            <a:r>
              <a:rPr sz="1500" dirty="0"/>
              <a:t>transparent</a:t>
            </a:r>
            <a:r>
              <a:rPr sz="1500" spc="15" dirty="0"/>
              <a:t> </a:t>
            </a:r>
            <a:r>
              <a:rPr sz="1500" dirty="0"/>
              <a:t>method</a:t>
            </a:r>
            <a:r>
              <a:rPr sz="1500" spc="15" dirty="0"/>
              <a:t> </a:t>
            </a:r>
            <a:r>
              <a:rPr sz="1500" dirty="0"/>
              <a:t>to</a:t>
            </a:r>
            <a:r>
              <a:rPr sz="1500" spc="20" dirty="0"/>
              <a:t> </a:t>
            </a:r>
            <a:r>
              <a:rPr sz="1500" dirty="0"/>
              <a:t>manage</a:t>
            </a:r>
            <a:r>
              <a:rPr sz="1500" spc="10" dirty="0"/>
              <a:t> </a:t>
            </a:r>
            <a:r>
              <a:rPr sz="1500" dirty="0"/>
              <a:t>IoT</a:t>
            </a:r>
            <a:r>
              <a:rPr sz="1500" spc="-20" dirty="0"/>
              <a:t> </a:t>
            </a:r>
            <a:r>
              <a:rPr sz="1500" dirty="0"/>
              <a:t>device</a:t>
            </a:r>
            <a:r>
              <a:rPr sz="1500" spc="15" dirty="0"/>
              <a:t> </a:t>
            </a:r>
            <a:r>
              <a:rPr sz="1500" dirty="0"/>
              <a:t>trust</a:t>
            </a:r>
            <a:r>
              <a:rPr sz="1500" spc="10" dirty="0"/>
              <a:t> </a:t>
            </a:r>
            <a:r>
              <a:rPr sz="1500" dirty="0"/>
              <a:t>and</a:t>
            </a:r>
            <a:r>
              <a:rPr sz="1500" spc="20" dirty="0"/>
              <a:t> </a:t>
            </a:r>
            <a:r>
              <a:rPr sz="1500" spc="-10" dirty="0"/>
              <a:t>control </a:t>
            </a:r>
            <a:r>
              <a:rPr sz="1500" dirty="0"/>
              <a:t>data</a:t>
            </a:r>
            <a:r>
              <a:rPr sz="1500" spc="-15" dirty="0"/>
              <a:t> </a:t>
            </a:r>
            <a:r>
              <a:rPr sz="1500" spc="-10" dirty="0"/>
              <a:t>access.</a:t>
            </a:r>
            <a:endParaRPr sz="15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500" dirty="0"/>
              <a:t>Trust</a:t>
            </a:r>
            <a:r>
              <a:rPr sz="1500" spc="-25" dirty="0"/>
              <a:t> </a:t>
            </a:r>
            <a:r>
              <a:rPr sz="1500" dirty="0"/>
              <a:t>scores</a:t>
            </a:r>
            <a:r>
              <a:rPr sz="1500" spc="-20" dirty="0"/>
              <a:t> </a:t>
            </a:r>
            <a:r>
              <a:rPr sz="1500" dirty="0"/>
              <a:t>are</a:t>
            </a:r>
            <a:r>
              <a:rPr sz="1500" spc="-20" dirty="0"/>
              <a:t> </a:t>
            </a:r>
            <a:r>
              <a:rPr sz="1500" dirty="0"/>
              <a:t>stored</a:t>
            </a:r>
            <a:r>
              <a:rPr sz="1500" spc="-20" dirty="0"/>
              <a:t> </a:t>
            </a:r>
            <a:r>
              <a:rPr sz="1500" dirty="0"/>
              <a:t>on</a:t>
            </a:r>
            <a:r>
              <a:rPr sz="1500" spc="-20" dirty="0"/>
              <a:t> </a:t>
            </a:r>
            <a:r>
              <a:rPr sz="1500" dirty="0"/>
              <a:t>an</a:t>
            </a:r>
            <a:r>
              <a:rPr sz="1500" spc="-15" dirty="0"/>
              <a:t> </a:t>
            </a:r>
            <a:r>
              <a:rPr sz="1500" dirty="0"/>
              <a:t>immutable</a:t>
            </a:r>
            <a:r>
              <a:rPr sz="1500" spc="-25" dirty="0"/>
              <a:t> </a:t>
            </a:r>
            <a:r>
              <a:rPr sz="1500" dirty="0"/>
              <a:t>blockchain,</a:t>
            </a:r>
            <a:r>
              <a:rPr sz="1500" spc="-20" dirty="0"/>
              <a:t> </a:t>
            </a:r>
            <a:r>
              <a:rPr sz="1500" dirty="0"/>
              <a:t>preventing</a:t>
            </a:r>
            <a:r>
              <a:rPr sz="1500" spc="-15" dirty="0"/>
              <a:t> </a:t>
            </a:r>
            <a:r>
              <a:rPr sz="1500" dirty="0"/>
              <a:t>tampering</a:t>
            </a:r>
            <a:r>
              <a:rPr sz="1500" spc="-20" dirty="0"/>
              <a:t> </a:t>
            </a:r>
            <a:r>
              <a:rPr sz="1500" dirty="0"/>
              <a:t>and</a:t>
            </a:r>
            <a:r>
              <a:rPr sz="1500" spc="-20" dirty="0"/>
              <a:t> </a:t>
            </a:r>
            <a:r>
              <a:rPr sz="1500" dirty="0"/>
              <a:t>ensuring</a:t>
            </a:r>
            <a:r>
              <a:rPr sz="1500" spc="-15" dirty="0"/>
              <a:t> </a:t>
            </a:r>
            <a:r>
              <a:rPr sz="1500" spc="-10" dirty="0"/>
              <a:t>reliability.</a:t>
            </a:r>
            <a:endParaRPr sz="1500">
              <a:latin typeface="Lucida Sans Unicode" panose="020B0602030504020204"/>
              <a:cs typeface="Lucida Sans Unicode" panose="020B0602030504020204"/>
            </a:endParaRPr>
          </a:p>
          <a:p>
            <a:pPr marL="355600" marR="5080" indent="-342900">
              <a:lnSpc>
                <a:spcPct val="143000"/>
              </a:lnSpc>
              <a:spcBef>
                <a:spcPts val="940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500" dirty="0"/>
              <a:t>Smart</a:t>
            </a:r>
            <a:r>
              <a:rPr sz="1500" spc="229" dirty="0"/>
              <a:t> </a:t>
            </a:r>
            <a:r>
              <a:rPr sz="1500" dirty="0"/>
              <a:t>contracts</a:t>
            </a:r>
            <a:r>
              <a:rPr sz="1500" spc="240" dirty="0"/>
              <a:t> </a:t>
            </a:r>
            <a:r>
              <a:rPr sz="1500" dirty="0"/>
              <a:t>automatically</a:t>
            </a:r>
            <a:r>
              <a:rPr sz="1500" spc="245" dirty="0"/>
              <a:t> </a:t>
            </a:r>
            <a:r>
              <a:rPr sz="1500" dirty="0"/>
              <a:t>enforce</a:t>
            </a:r>
            <a:r>
              <a:rPr sz="1500" spc="229" dirty="0"/>
              <a:t> </a:t>
            </a:r>
            <a:r>
              <a:rPr sz="1500" dirty="0"/>
              <a:t>access</a:t>
            </a:r>
            <a:r>
              <a:rPr sz="1500" spc="254" dirty="0"/>
              <a:t> </a:t>
            </a:r>
            <a:r>
              <a:rPr sz="1500" dirty="0"/>
              <a:t>policies,</a:t>
            </a:r>
            <a:r>
              <a:rPr sz="1500" spc="254" dirty="0"/>
              <a:t> </a:t>
            </a:r>
            <a:r>
              <a:rPr sz="1500" dirty="0"/>
              <a:t>removing</a:t>
            </a:r>
            <a:r>
              <a:rPr sz="1500" spc="254" dirty="0"/>
              <a:t> </a:t>
            </a:r>
            <a:r>
              <a:rPr sz="1500" dirty="0"/>
              <a:t>risks</a:t>
            </a:r>
            <a:r>
              <a:rPr sz="1500" spc="254" dirty="0"/>
              <a:t> </a:t>
            </a:r>
            <a:r>
              <a:rPr sz="1500" dirty="0"/>
              <a:t>like</a:t>
            </a:r>
            <a:r>
              <a:rPr sz="1500" spc="250" dirty="0"/>
              <a:t> </a:t>
            </a:r>
            <a:r>
              <a:rPr sz="1500" dirty="0"/>
              <a:t>data</a:t>
            </a:r>
            <a:r>
              <a:rPr sz="1500" spc="245" dirty="0"/>
              <a:t> </a:t>
            </a:r>
            <a:r>
              <a:rPr sz="1500" dirty="0"/>
              <a:t>manipulation</a:t>
            </a:r>
            <a:r>
              <a:rPr sz="1500" spc="254" dirty="0"/>
              <a:t> </a:t>
            </a:r>
            <a:r>
              <a:rPr sz="1500" dirty="0"/>
              <a:t>and</a:t>
            </a:r>
            <a:r>
              <a:rPr sz="1500" spc="254" dirty="0"/>
              <a:t> </a:t>
            </a:r>
            <a:r>
              <a:rPr sz="1500" spc="-10" dirty="0"/>
              <a:t>single </a:t>
            </a:r>
            <a:r>
              <a:rPr sz="1500" dirty="0"/>
              <a:t>points</a:t>
            </a:r>
            <a:r>
              <a:rPr sz="1500" spc="-10" dirty="0"/>
              <a:t> </a:t>
            </a:r>
            <a:r>
              <a:rPr sz="1500" dirty="0"/>
              <a:t>of</a:t>
            </a:r>
            <a:r>
              <a:rPr sz="1500" spc="-5" dirty="0"/>
              <a:t> </a:t>
            </a:r>
            <a:r>
              <a:rPr sz="1500" spc="-10" dirty="0"/>
              <a:t>failure.</a:t>
            </a:r>
            <a:endParaRPr sz="15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500" dirty="0"/>
              <a:t>The</a:t>
            </a:r>
            <a:r>
              <a:rPr sz="1500" spc="-20" dirty="0"/>
              <a:t> </a:t>
            </a:r>
            <a:r>
              <a:rPr sz="1500" dirty="0"/>
              <a:t>system</a:t>
            </a:r>
            <a:r>
              <a:rPr sz="1500" spc="-20" dirty="0"/>
              <a:t> </a:t>
            </a:r>
            <a:r>
              <a:rPr sz="1500" dirty="0"/>
              <a:t>allows</a:t>
            </a:r>
            <a:r>
              <a:rPr sz="1500" spc="-15" dirty="0"/>
              <a:t> </a:t>
            </a:r>
            <a:r>
              <a:rPr sz="1500" dirty="0"/>
              <a:t>dynamic</a:t>
            </a:r>
            <a:r>
              <a:rPr sz="1500" spc="-20" dirty="0"/>
              <a:t> </a:t>
            </a:r>
            <a:r>
              <a:rPr sz="1500" dirty="0"/>
              <a:t>trust</a:t>
            </a:r>
            <a:r>
              <a:rPr sz="1500" spc="-20" dirty="0"/>
              <a:t> </a:t>
            </a:r>
            <a:r>
              <a:rPr sz="1500" dirty="0"/>
              <a:t>updates</a:t>
            </a:r>
            <a:r>
              <a:rPr sz="1500" spc="-15" dirty="0"/>
              <a:t> </a:t>
            </a:r>
            <a:r>
              <a:rPr sz="1500" dirty="0"/>
              <a:t>and</a:t>
            </a:r>
            <a:r>
              <a:rPr sz="1500" spc="-15" dirty="0"/>
              <a:t> </a:t>
            </a:r>
            <a:r>
              <a:rPr sz="1500" dirty="0"/>
              <a:t>provides</a:t>
            </a:r>
            <a:r>
              <a:rPr sz="1500" spc="-15" dirty="0"/>
              <a:t> </a:t>
            </a:r>
            <a:r>
              <a:rPr sz="1500" dirty="0"/>
              <a:t>transparent</a:t>
            </a:r>
            <a:r>
              <a:rPr sz="1500" spc="-20" dirty="0"/>
              <a:t> </a:t>
            </a:r>
            <a:r>
              <a:rPr sz="1500" spc="-10" dirty="0"/>
              <a:t>auditing.</a:t>
            </a:r>
            <a:endParaRPr sz="15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500" dirty="0"/>
              <a:t>Only</a:t>
            </a:r>
            <a:r>
              <a:rPr sz="1500" spc="-20" dirty="0"/>
              <a:t> </a:t>
            </a:r>
            <a:r>
              <a:rPr sz="1500" dirty="0"/>
              <a:t>reliable</a:t>
            </a:r>
            <a:r>
              <a:rPr sz="1500" spc="-20" dirty="0"/>
              <a:t> </a:t>
            </a:r>
            <a:r>
              <a:rPr sz="1500" dirty="0"/>
              <a:t>devices</a:t>
            </a:r>
            <a:r>
              <a:rPr sz="1500" spc="-15" dirty="0"/>
              <a:t> </a:t>
            </a:r>
            <a:r>
              <a:rPr sz="1500" dirty="0"/>
              <a:t>are</a:t>
            </a:r>
            <a:r>
              <a:rPr sz="1500" spc="-20" dirty="0"/>
              <a:t> </a:t>
            </a:r>
            <a:r>
              <a:rPr sz="1500" dirty="0"/>
              <a:t>permitted</a:t>
            </a:r>
            <a:r>
              <a:rPr sz="1500" spc="-15" dirty="0"/>
              <a:t> </a:t>
            </a:r>
            <a:r>
              <a:rPr sz="1500" dirty="0"/>
              <a:t>to</a:t>
            </a:r>
            <a:r>
              <a:rPr sz="1500" spc="-15" dirty="0"/>
              <a:t> </a:t>
            </a:r>
            <a:r>
              <a:rPr sz="1500" dirty="0"/>
              <a:t>share</a:t>
            </a:r>
            <a:r>
              <a:rPr sz="1500" spc="-20" dirty="0"/>
              <a:t> </a:t>
            </a:r>
            <a:r>
              <a:rPr sz="1500" dirty="0"/>
              <a:t>or</a:t>
            </a:r>
            <a:r>
              <a:rPr sz="1500" spc="-15" dirty="0"/>
              <a:t> </a:t>
            </a:r>
            <a:r>
              <a:rPr sz="1500" dirty="0"/>
              <a:t>access</a:t>
            </a:r>
            <a:r>
              <a:rPr sz="1500" spc="-15" dirty="0"/>
              <a:t> </a:t>
            </a:r>
            <a:r>
              <a:rPr sz="1500" spc="-10" dirty="0"/>
              <a:t>data.</a:t>
            </a:r>
            <a:endParaRPr sz="15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▶</a:t>
            </a:r>
            <a:r>
              <a:rPr sz="1200" dirty="0">
                <a:solidFill>
                  <a:srgbClr val="B31166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500" dirty="0"/>
              <a:t>This</a:t>
            </a:r>
            <a:r>
              <a:rPr sz="1500" spc="-20" dirty="0"/>
              <a:t> </a:t>
            </a:r>
            <a:r>
              <a:rPr sz="1500" dirty="0"/>
              <a:t>approach</a:t>
            </a:r>
            <a:r>
              <a:rPr sz="1500" spc="-15" dirty="0"/>
              <a:t> </a:t>
            </a:r>
            <a:r>
              <a:rPr sz="1500" dirty="0"/>
              <a:t>is</a:t>
            </a:r>
            <a:r>
              <a:rPr sz="1500" spc="-15" dirty="0"/>
              <a:t> </a:t>
            </a:r>
            <a:r>
              <a:rPr sz="1500" dirty="0"/>
              <a:t>suitable</a:t>
            </a:r>
            <a:r>
              <a:rPr sz="1500" spc="-20" dirty="0"/>
              <a:t> </a:t>
            </a:r>
            <a:r>
              <a:rPr sz="1500" dirty="0"/>
              <a:t>for</a:t>
            </a:r>
            <a:r>
              <a:rPr sz="1500" spc="-15" dirty="0"/>
              <a:t> </a:t>
            </a:r>
            <a:r>
              <a:rPr sz="1500" dirty="0"/>
              <a:t>applications</a:t>
            </a:r>
            <a:r>
              <a:rPr sz="1500" spc="-15" dirty="0"/>
              <a:t> </a:t>
            </a:r>
            <a:r>
              <a:rPr sz="1500" dirty="0"/>
              <a:t>in</a:t>
            </a:r>
            <a:r>
              <a:rPr sz="1500" spc="-15" dirty="0"/>
              <a:t> </a:t>
            </a:r>
            <a:r>
              <a:rPr sz="1500" dirty="0"/>
              <a:t>smart</a:t>
            </a:r>
            <a:r>
              <a:rPr sz="1500" spc="-20" dirty="0"/>
              <a:t> </a:t>
            </a:r>
            <a:r>
              <a:rPr sz="1500" dirty="0"/>
              <a:t>cities,</a:t>
            </a:r>
            <a:r>
              <a:rPr sz="1500" spc="-15" dirty="0"/>
              <a:t> </a:t>
            </a:r>
            <a:r>
              <a:rPr sz="1500" dirty="0"/>
              <a:t>agriculture,</a:t>
            </a:r>
            <a:r>
              <a:rPr sz="1500" spc="-15" dirty="0"/>
              <a:t> </a:t>
            </a:r>
            <a:r>
              <a:rPr sz="1500" dirty="0"/>
              <a:t>healthcare,</a:t>
            </a:r>
            <a:r>
              <a:rPr sz="1500" spc="-20" dirty="0"/>
              <a:t> </a:t>
            </a:r>
            <a:r>
              <a:rPr sz="1500" dirty="0"/>
              <a:t>and</a:t>
            </a:r>
            <a:r>
              <a:rPr sz="1500" spc="-15" dirty="0"/>
              <a:t> </a:t>
            </a:r>
            <a:r>
              <a:rPr sz="1500" dirty="0"/>
              <a:t>industrial</a:t>
            </a:r>
            <a:r>
              <a:rPr sz="1500" spc="-20" dirty="0"/>
              <a:t> IoT.</a:t>
            </a:r>
            <a:endParaRPr sz="15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91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just">
              <a:lnSpc>
                <a:spcPts val="1940"/>
              </a:lnSpc>
              <a:spcBef>
                <a:spcPts val="345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[1].</a:t>
            </a:r>
            <a:r>
              <a:rPr b="1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A.Aloysius</a:t>
            </a:r>
            <a:r>
              <a:rPr b="1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1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20" dirty="0">
                <a:latin typeface="Times New Roman" panose="02020603050405020304"/>
                <a:cs typeface="Times New Roman" panose="02020603050405020304"/>
              </a:rPr>
              <a:t>V.</a:t>
            </a:r>
            <a:r>
              <a:rPr b="1" spc="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Arulkumar,</a:t>
            </a:r>
            <a:r>
              <a:rPr b="1" spc="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“Advancing</a:t>
            </a:r>
            <a:r>
              <a:rPr spc="250" dirty="0"/>
              <a:t> </a:t>
            </a:r>
            <a:r>
              <a:rPr dirty="0"/>
              <a:t>IoT</a:t>
            </a:r>
            <a:r>
              <a:rPr spc="210" dirty="0"/>
              <a:t> </a:t>
            </a:r>
            <a:r>
              <a:rPr dirty="0"/>
              <a:t>Security</a:t>
            </a:r>
            <a:r>
              <a:rPr spc="250" dirty="0"/>
              <a:t> </a:t>
            </a:r>
            <a:r>
              <a:rPr dirty="0"/>
              <a:t>through</a:t>
            </a:r>
            <a:r>
              <a:rPr spc="254" dirty="0"/>
              <a:t> </a:t>
            </a:r>
            <a:r>
              <a:rPr dirty="0"/>
              <a:t>Blockchain-</a:t>
            </a:r>
            <a:r>
              <a:rPr spc="-10" dirty="0"/>
              <a:t>Driven </a:t>
            </a:r>
            <a:r>
              <a:rPr dirty="0"/>
              <a:t>Dynamic</a:t>
            </a:r>
            <a:r>
              <a:rPr spc="114" dirty="0"/>
              <a:t> </a:t>
            </a:r>
            <a:r>
              <a:rPr dirty="0"/>
              <a:t>Trust</a:t>
            </a:r>
            <a:r>
              <a:rPr spc="155" dirty="0"/>
              <a:t> </a:t>
            </a:r>
            <a:r>
              <a:rPr dirty="0"/>
              <a:t>Evaluation,”</a:t>
            </a:r>
            <a:r>
              <a:rPr spc="160" dirty="0"/>
              <a:t> </a:t>
            </a:r>
            <a:r>
              <a:rPr dirty="0"/>
              <a:t>Indian</a:t>
            </a:r>
            <a:r>
              <a:rPr spc="160" dirty="0"/>
              <a:t> </a:t>
            </a:r>
            <a:r>
              <a:rPr dirty="0"/>
              <a:t>Journal</a:t>
            </a:r>
            <a:r>
              <a:rPr spc="155" dirty="0"/>
              <a:t> </a:t>
            </a:r>
            <a:r>
              <a:rPr dirty="0"/>
              <a:t>of</a:t>
            </a:r>
            <a:r>
              <a:rPr spc="165" dirty="0"/>
              <a:t> </a:t>
            </a:r>
            <a:r>
              <a:rPr dirty="0"/>
              <a:t>Science</a:t>
            </a:r>
            <a:r>
              <a:rPr spc="160" dirty="0"/>
              <a:t> </a:t>
            </a:r>
            <a:r>
              <a:rPr dirty="0"/>
              <a:t>and</a:t>
            </a:r>
            <a:r>
              <a:rPr spc="114" dirty="0"/>
              <a:t> </a:t>
            </a:r>
            <a:r>
              <a:rPr dirty="0"/>
              <a:t>Technology,</a:t>
            </a:r>
            <a:r>
              <a:rPr spc="165" dirty="0"/>
              <a:t> </a:t>
            </a:r>
            <a:r>
              <a:rPr dirty="0"/>
              <a:t>vol.</a:t>
            </a:r>
            <a:r>
              <a:rPr spc="170" dirty="0"/>
              <a:t> </a:t>
            </a:r>
            <a:r>
              <a:rPr dirty="0"/>
              <a:t>18,</a:t>
            </a:r>
            <a:r>
              <a:rPr spc="175" dirty="0"/>
              <a:t> </a:t>
            </a:r>
            <a:r>
              <a:rPr dirty="0"/>
              <a:t>no.</a:t>
            </a:r>
            <a:r>
              <a:rPr spc="170" dirty="0"/>
              <a:t> </a:t>
            </a:r>
            <a:r>
              <a:rPr dirty="0"/>
              <a:t>25,</a:t>
            </a:r>
            <a:r>
              <a:rPr spc="175" dirty="0"/>
              <a:t> </a:t>
            </a:r>
            <a:r>
              <a:rPr spc="-25" dirty="0"/>
              <a:t>pp. </a:t>
            </a:r>
            <a:r>
              <a:rPr dirty="0"/>
              <a:t>1–9, </a:t>
            </a:r>
            <a:r>
              <a:rPr spc="-10" dirty="0"/>
              <a:t>2025.</a:t>
            </a:r>
            <a:endParaRPr spc="-10" dirty="0"/>
          </a:p>
          <a:p>
            <a:pPr marL="12700" marR="5080" algn="just">
              <a:lnSpc>
                <a:spcPts val="1940"/>
              </a:lnSpc>
              <a:spcBef>
                <a:spcPts val="1000"/>
              </a:spcBef>
            </a:pPr>
            <a:r>
              <a:rPr dirty="0"/>
              <a:t>[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2].</a:t>
            </a:r>
            <a:r>
              <a:rPr b="1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S.Almarri</a:t>
            </a:r>
            <a:r>
              <a:rPr b="1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A.</a:t>
            </a:r>
            <a:r>
              <a:rPr b="1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Aljughaiman,</a:t>
            </a:r>
            <a:r>
              <a:rPr b="1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“Blockchain</a:t>
            </a:r>
            <a:r>
              <a:rPr spc="100" dirty="0"/>
              <a:t> </a:t>
            </a:r>
            <a:r>
              <a:rPr dirty="0"/>
              <a:t>Technology</a:t>
            </a:r>
            <a:r>
              <a:rPr spc="145" dirty="0"/>
              <a:t> </a:t>
            </a:r>
            <a:r>
              <a:rPr dirty="0"/>
              <a:t>for</a:t>
            </a:r>
            <a:r>
              <a:rPr spc="145" dirty="0"/>
              <a:t> </a:t>
            </a:r>
            <a:r>
              <a:rPr dirty="0"/>
              <a:t>IoT</a:t>
            </a:r>
            <a:r>
              <a:rPr spc="100" dirty="0"/>
              <a:t> </a:t>
            </a:r>
            <a:r>
              <a:rPr dirty="0"/>
              <a:t>Security</a:t>
            </a:r>
            <a:r>
              <a:rPr spc="145" dirty="0"/>
              <a:t> </a:t>
            </a:r>
            <a:r>
              <a:rPr dirty="0"/>
              <a:t>and</a:t>
            </a:r>
            <a:r>
              <a:rPr spc="100" dirty="0"/>
              <a:t> </a:t>
            </a:r>
            <a:r>
              <a:rPr spc="-10" dirty="0"/>
              <a:t>Trust,” </a:t>
            </a:r>
            <a:r>
              <a:rPr dirty="0"/>
              <a:t>Journal</a:t>
            </a:r>
            <a:r>
              <a:rPr spc="-3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Emerging</a:t>
            </a:r>
            <a:r>
              <a:rPr spc="-45" dirty="0"/>
              <a:t> </a:t>
            </a:r>
            <a:r>
              <a:rPr spc="-10" dirty="0"/>
              <a:t>Technologies,</a:t>
            </a:r>
            <a:r>
              <a:rPr spc="-15" dirty="0"/>
              <a:t> </a:t>
            </a:r>
            <a:r>
              <a:rPr dirty="0"/>
              <a:t>vol.</a:t>
            </a:r>
            <a:r>
              <a:rPr spc="-15" dirty="0"/>
              <a:t> </a:t>
            </a:r>
            <a:r>
              <a:rPr dirty="0"/>
              <a:t>12,</a:t>
            </a:r>
            <a:r>
              <a:rPr spc="-15" dirty="0"/>
              <a:t> </a:t>
            </a:r>
            <a:r>
              <a:rPr dirty="0"/>
              <a:t>no.</a:t>
            </a:r>
            <a:r>
              <a:rPr spc="-15" dirty="0"/>
              <a:t> </a:t>
            </a:r>
            <a:r>
              <a:rPr dirty="0"/>
              <a:t>4,</a:t>
            </a:r>
            <a:r>
              <a:rPr spc="-15" dirty="0"/>
              <a:t> </a:t>
            </a:r>
            <a:r>
              <a:rPr dirty="0"/>
              <a:t>pp.</a:t>
            </a:r>
            <a:r>
              <a:rPr spc="-15" dirty="0"/>
              <a:t> </a:t>
            </a:r>
            <a:r>
              <a:rPr dirty="0"/>
              <a:t>44–53,</a:t>
            </a:r>
            <a:r>
              <a:rPr spc="-15" dirty="0"/>
              <a:t> </a:t>
            </a:r>
            <a:r>
              <a:rPr spc="-10" dirty="0"/>
              <a:t>2025.</a:t>
            </a:r>
            <a:endParaRPr spc="-10" dirty="0"/>
          </a:p>
          <a:p>
            <a:pPr marL="12700" marR="5080" algn="just">
              <a:lnSpc>
                <a:spcPts val="1940"/>
              </a:lnSpc>
              <a:spcBef>
                <a:spcPts val="1000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[3].</a:t>
            </a:r>
            <a:r>
              <a:rPr b="1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45" dirty="0">
                <a:latin typeface="Times New Roman" panose="02020603050405020304"/>
                <a:cs typeface="Times New Roman" panose="02020603050405020304"/>
              </a:rPr>
              <a:t>M.Zhaofeng,</a:t>
            </a:r>
            <a:r>
              <a:rPr b="1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W.</a:t>
            </a:r>
            <a:r>
              <a:rPr b="1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Lingyun,</a:t>
            </a:r>
            <a:r>
              <a:rPr b="1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W.</a:t>
            </a:r>
            <a:r>
              <a:rPr b="1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45" dirty="0">
                <a:latin typeface="Times New Roman" panose="02020603050405020304"/>
                <a:cs typeface="Times New Roman" panose="02020603050405020304"/>
              </a:rPr>
              <a:t>Xiaochang,</a:t>
            </a:r>
            <a:r>
              <a:rPr b="1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W.</a:t>
            </a:r>
            <a:r>
              <a:rPr b="1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Zhen,</a:t>
            </a:r>
            <a:r>
              <a:rPr b="1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1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Z.</a:t>
            </a:r>
            <a:r>
              <a:rPr b="1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Weizhe,</a:t>
            </a:r>
            <a:r>
              <a:rPr b="1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35" dirty="0"/>
              <a:t>“Blockchain- </a:t>
            </a:r>
            <a:r>
              <a:rPr dirty="0"/>
              <a:t>Enabled</a:t>
            </a:r>
            <a:r>
              <a:rPr spc="40" dirty="0"/>
              <a:t> </a:t>
            </a:r>
            <a:r>
              <a:rPr dirty="0"/>
              <a:t>Decentralized</a:t>
            </a:r>
            <a:r>
              <a:rPr spc="5" dirty="0"/>
              <a:t> </a:t>
            </a:r>
            <a:r>
              <a:rPr dirty="0"/>
              <a:t>Trust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35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Secure</a:t>
            </a:r>
            <a:r>
              <a:rPr spc="40" dirty="0"/>
              <a:t> </a:t>
            </a:r>
            <a:r>
              <a:rPr dirty="0"/>
              <a:t>Usage</a:t>
            </a:r>
            <a:r>
              <a:rPr spc="40" dirty="0"/>
              <a:t> </a:t>
            </a:r>
            <a:r>
              <a:rPr dirty="0"/>
              <a:t>Control</a:t>
            </a:r>
            <a:r>
              <a:rPr spc="35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dirty="0"/>
              <a:t>IoT</a:t>
            </a:r>
            <a:r>
              <a:rPr spc="15" dirty="0"/>
              <a:t> </a:t>
            </a:r>
            <a:r>
              <a:rPr dirty="0"/>
              <a:t>Big</a:t>
            </a:r>
            <a:r>
              <a:rPr spc="50" dirty="0"/>
              <a:t> </a:t>
            </a:r>
            <a:r>
              <a:rPr dirty="0"/>
              <a:t>Data,”</a:t>
            </a:r>
            <a:r>
              <a:rPr spc="50" dirty="0"/>
              <a:t> </a:t>
            </a:r>
            <a:r>
              <a:rPr spc="-20" dirty="0"/>
              <a:t>IEEE </a:t>
            </a:r>
            <a:r>
              <a:rPr dirty="0"/>
              <a:t>Internet</a:t>
            </a:r>
            <a:r>
              <a:rPr spc="-2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Things</a:t>
            </a:r>
            <a:r>
              <a:rPr spc="-20" dirty="0"/>
              <a:t> </a:t>
            </a:r>
            <a:r>
              <a:rPr dirty="0"/>
              <a:t>Journal</a:t>
            </a:r>
            <a:r>
              <a:rPr i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vol.</a:t>
            </a:r>
            <a:r>
              <a:rPr spc="-15" dirty="0"/>
              <a:t> </a:t>
            </a:r>
            <a:r>
              <a:rPr dirty="0"/>
              <a:t>12,</a:t>
            </a:r>
            <a:r>
              <a:rPr spc="-10" dirty="0"/>
              <a:t> </a:t>
            </a:r>
            <a:r>
              <a:rPr dirty="0"/>
              <a:t>no.</a:t>
            </a:r>
            <a:r>
              <a:rPr spc="-15" dirty="0"/>
              <a:t> </a:t>
            </a:r>
            <a:r>
              <a:rPr dirty="0"/>
              <a:t>2,</a:t>
            </a:r>
            <a:r>
              <a:rPr spc="-10" dirty="0"/>
              <a:t> </a:t>
            </a:r>
            <a:r>
              <a:rPr dirty="0"/>
              <a:t>pp.</a:t>
            </a:r>
            <a:r>
              <a:rPr spc="-15" dirty="0"/>
              <a:t> </a:t>
            </a:r>
            <a:r>
              <a:rPr spc="-10" dirty="0"/>
              <a:t>1120–1133, 2025.</a:t>
            </a:r>
            <a:endParaRPr spc="-10" dirty="0"/>
          </a:p>
          <a:p>
            <a:pPr marL="12700" marR="5080" algn="just">
              <a:lnSpc>
                <a:spcPct val="88000"/>
              </a:lnSpc>
              <a:spcBef>
                <a:spcPts val="1100"/>
              </a:spcBef>
            </a:pPr>
            <a:r>
              <a:rPr b="1" spc="-160" dirty="0">
                <a:latin typeface="Tahoma" panose="020B0604030504040204"/>
                <a:cs typeface="Tahoma" panose="020B0604030504040204"/>
              </a:rPr>
              <a:t>[4].</a:t>
            </a:r>
            <a:r>
              <a:rPr b="1" spc="220" dirty="0">
                <a:latin typeface="Tahoma" panose="020B0604030504040204"/>
                <a:cs typeface="Tahoma" panose="020B0604030504040204"/>
              </a:rPr>
              <a:t> </a:t>
            </a:r>
            <a:r>
              <a:rPr b="1" dirty="0">
                <a:latin typeface="Tahoma" panose="020B0604030504040204"/>
                <a:cs typeface="Tahoma" panose="020B0604030504040204"/>
              </a:rPr>
              <a:t>Q.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Qian,</a:t>
            </a:r>
            <a:r>
              <a:rPr b="1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b="1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al.,</a:t>
            </a:r>
            <a:r>
              <a:rPr b="1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“A</a:t>
            </a:r>
            <a:r>
              <a:rPr spc="90" dirty="0"/>
              <a:t> </a:t>
            </a:r>
            <a:r>
              <a:rPr dirty="0"/>
              <a:t>Multi-layer</a:t>
            </a:r>
            <a:r>
              <a:rPr spc="240" dirty="0"/>
              <a:t> </a:t>
            </a:r>
            <a:r>
              <a:rPr dirty="0"/>
              <a:t>Information</a:t>
            </a:r>
            <a:r>
              <a:rPr spc="245" dirty="0"/>
              <a:t> </a:t>
            </a:r>
            <a:r>
              <a:rPr dirty="0"/>
              <a:t>Dispersal</a:t>
            </a:r>
            <a:r>
              <a:rPr spc="235" dirty="0"/>
              <a:t> </a:t>
            </a:r>
            <a:r>
              <a:rPr dirty="0"/>
              <a:t>Based</a:t>
            </a:r>
            <a:r>
              <a:rPr spc="245" dirty="0"/>
              <a:t> </a:t>
            </a:r>
            <a:r>
              <a:rPr dirty="0"/>
              <a:t>Encryption</a:t>
            </a:r>
            <a:r>
              <a:rPr spc="110" dirty="0"/>
              <a:t> </a:t>
            </a:r>
            <a:r>
              <a:rPr dirty="0"/>
              <a:t>Algorithm</a:t>
            </a:r>
            <a:r>
              <a:rPr spc="235" dirty="0"/>
              <a:t> </a:t>
            </a:r>
            <a:r>
              <a:rPr spc="-25" dirty="0"/>
              <a:t>for </a:t>
            </a:r>
            <a:r>
              <a:rPr dirty="0"/>
              <a:t>Client-Side</a:t>
            </a:r>
            <a:r>
              <a:rPr spc="125" dirty="0"/>
              <a:t> </a:t>
            </a:r>
            <a:r>
              <a:rPr dirty="0"/>
              <a:t>Security</a:t>
            </a:r>
            <a:r>
              <a:rPr spc="135" dirty="0"/>
              <a:t> </a:t>
            </a:r>
            <a:r>
              <a:rPr dirty="0"/>
              <a:t>in</a:t>
            </a:r>
            <a:r>
              <a:rPr spc="135" dirty="0"/>
              <a:t> </a:t>
            </a:r>
            <a:r>
              <a:rPr dirty="0"/>
              <a:t>Cloud</a:t>
            </a:r>
            <a:r>
              <a:rPr spc="135" dirty="0"/>
              <a:t> </a:t>
            </a:r>
            <a:r>
              <a:rPr dirty="0"/>
              <a:t>Storage,”</a:t>
            </a:r>
            <a:r>
              <a:rPr spc="135" dirty="0"/>
              <a:t> </a:t>
            </a:r>
            <a:r>
              <a:rPr dirty="0"/>
              <a:t>Future</a:t>
            </a:r>
            <a:r>
              <a:rPr spc="135" dirty="0"/>
              <a:t> </a:t>
            </a:r>
            <a:r>
              <a:rPr dirty="0"/>
              <a:t>Generation</a:t>
            </a:r>
            <a:r>
              <a:rPr spc="135" dirty="0"/>
              <a:t> </a:t>
            </a:r>
            <a:r>
              <a:rPr dirty="0"/>
              <a:t>Computer</a:t>
            </a:r>
            <a:r>
              <a:rPr spc="135" dirty="0"/>
              <a:t> </a:t>
            </a:r>
            <a:r>
              <a:rPr dirty="0"/>
              <a:t>Systems,</a:t>
            </a:r>
            <a:r>
              <a:rPr spc="150" dirty="0"/>
              <a:t> </a:t>
            </a:r>
            <a:r>
              <a:rPr dirty="0"/>
              <a:t>vol.</a:t>
            </a:r>
            <a:r>
              <a:rPr spc="145" dirty="0"/>
              <a:t> </a:t>
            </a:r>
            <a:r>
              <a:rPr dirty="0"/>
              <a:t>148,</a:t>
            </a:r>
            <a:r>
              <a:rPr spc="150" dirty="0"/>
              <a:t> </a:t>
            </a:r>
            <a:r>
              <a:rPr spc="-25" dirty="0"/>
              <a:t>pp. </a:t>
            </a:r>
            <a:r>
              <a:rPr dirty="0"/>
              <a:t>233–242, </a:t>
            </a:r>
            <a:r>
              <a:rPr spc="-10" dirty="0"/>
              <a:t>2025.</a:t>
            </a:r>
            <a:endParaRPr spc="-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91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algn="just">
              <a:lnSpc>
                <a:spcPct val="103000"/>
              </a:lnSpc>
              <a:spcBef>
                <a:spcPts val="30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[5].</a:t>
            </a:r>
            <a:r>
              <a:rPr b="1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P.</a:t>
            </a:r>
            <a:r>
              <a:rPr b="1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Zhou,</a:t>
            </a:r>
            <a:r>
              <a:rPr b="1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b="1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al.,</a:t>
            </a:r>
            <a:r>
              <a:rPr b="1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“Differentially-private</a:t>
            </a:r>
            <a:r>
              <a:rPr spc="215" dirty="0"/>
              <a:t> </a:t>
            </a:r>
            <a:r>
              <a:rPr dirty="0"/>
              <a:t>and</a:t>
            </a:r>
            <a:r>
              <a:rPr spc="170" dirty="0"/>
              <a:t> </a:t>
            </a:r>
            <a:r>
              <a:rPr dirty="0"/>
              <a:t>Trustworthy</a:t>
            </a:r>
            <a:r>
              <a:rPr spc="210" dirty="0"/>
              <a:t> </a:t>
            </a:r>
            <a:r>
              <a:rPr dirty="0"/>
              <a:t>Online</a:t>
            </a:r>
            <a:r>
              <a:rPr spc="215" dirty="0"/>
              <a:t> </a:t>
            </a:r>
            <a:r>
              <a:rPr dirty="0"/>
              <a:t>Social</a:t>
            </a:r>
            <a:r>
              <a:rPr spc="210" dirty="0"/>
              <a:t> </a:t>
            </a:r>
            <a:r>
              <a:rPr dirty="0"/>
              <a:t>Multimedia</a:t>
            </a:r>
            <a:r>
              <a:rPr spc="210" dirty="0"/>
              <a:t> </a:t>
            </a:r>
            <a:r>
              <a:rPr spc="-25" dirty="0"/>
              <a:t>Big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Retrieval,”</a:t>
            </a:r>
            <a:r>
              <a:rPr spc="-15" dirty="0"/>
              <a:t> </a:t>
            </a:r>
            <a:r>
              <a:rPr dirty="0"/>
              <a:t>IEEE</a:t>
            </a:r>
            <a:r>
              <a:rPr spc="-50" dirty="0"/>
              <a:t> </a:t>
            </a:r>
            <a:r>
              <a:rPr spc="-10" dirty="0"/>
              <a:t>Transactions</a:t>
            </a:r>
            <a:r>
              <a:rPr spc="-20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dirty="0"/>
              <a:t>Multimedia,</a:t>
            </a:r>
            <a:r>
              <a:rPr spc="-10" dirty="0"/>
              <a:t> </a:t>
            </a:r>
            <a:r>
              <a:rPr dirty="0"/>
              <a:t>vol.</a:t>
            </a:r>
            <a:r>
              <a:rPr spc="-15" dirty="0"/>
              <a:t> </a:t>
            </a:r>
            <a:r>
              <a:rPr dirty="0"/>
              <a:t>27,</a:t>
            </a:r>
            <a:r>
              <a:rPr spc="-15" dirty="0"/>
              <a:t> </a:t>
            </a:r>
            <a:r>
              <a:rPr dirty="0"/>
              <a:t>no.</a:t>
            </a:r>
            <a:r>
              <a:rPr spc="-15" dirty="0"/>
              <a:t> </a:t>
            </a:r>
            <a:r>
              <a:rPr dirty="0"/>
              <a:t>5,</a:t>
            </a:r>
            <a:r>
              <a:rPr spc="-15" dirty="0"/>
              <a:t> </a:t>
            </a:r>
            <a:r>
              <a:rPr dirty="0"/>
              <a:t>pp.</a:t>
            </a:r>
            <a:r>
              <a:rPr spc="-15" dirty="0"/>
              <a:t> </a:t>
            </a:r>
            <a:r>
              <a:rPr dirty="0"/>
              <a:t>989–1003,</a:t>
            </a:r>
            <a:r>
              <a:rPr spc="-10" dirty="0"/>
              <a:t> 2025</a:t>
            </a:r>
            <a:r>
              <a:rPr spc="-10" dirty="0">
                <a:latin typeface="Verdana" panose="020B0604030504040204"/>
                <a:cs typeface="Verdana" panose="020B0604030504040204"/>
              </a:rPr>
              <a:t>.</a:t>
            </a:r>
            <a:endParaRPr spc="-10" dirty="0">
              <a:latin typeface="Verdana" panose="020B0604030504040204"/>
              <a:cs typeface="Verdana" panose="020B0604030504040204"/>
            </a:endParaRPr>
          </a:p>
          <a:p>
            <a:pPr marL="12700" marR="5080" algn="just">
              <a:lnSpc>
                <a:spcPct val="102000"/>
              </a:lnSpc>
              <a:spcBef>
                <a:spcPts val="895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[6].</a:t>
            </a:r>
            <a:r>
              <a:rPr b="1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J.-S.</a:t>
            </a:r>
            <a:r>
              <a:rPr b="1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Fu,</a:t>
            </a:r>
            <a:r>
              <a:rPr b="1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b="1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al.,</a:t>
            </a:r>
            <a:r>
              <a:rPr b="1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“Secure</a:t>
            </a:r>
            <a:r>
              <a:rPr spc="210" dirty="0"/>
              <a:t> </a:t>
            </a:r>
            <a:r>
              <a:rPr dirty="0"/>
              <a:t>Data</a:t>
            </a:r>
            <a:r>
              <a:rPr spc="210" dirty="0"/>
              <a:t> </a:t>
            </a:r>
            <a:r>
              <a:rPr dirty="0"/>
              <a:t>Storage</a:t>
            </a:r>
            <a:r>
              <a:rPr spc="210" dirty="0"/>
              <a:t> </a:t>
            </a:r>
            <a:r>
              <a:rPr dirty="0"/>
              <a:t>and</a:t>
            </a:r>
            <a:r>
              <a:rPr spc="210" dirty="0"/>
              <a:t> </a:t>
            </a:r>
            <a:r>
              <a:rPr dirty="0"/>
              <a:t>Searching</a:t>
            </a:r>
            <a:r>
              <a:rPr spc="210" dirty="0"/>
              <a:t> </a:t>
            </a:r>
            <a:r>
              <a:rPr dirty="0"/>
              <a:t>for</a:t>
            </a:r>
            <a:r>
              <a:rPr spc="204" dirty="0"/>
              <a:t> </a:t>
            </a:r>
            <a:r>
              <a:rPr dirty="0"/>
              <a:t>Industrial</a:t>
            </a:r>
            <a:r>
              <a:rPr spc="204" dirty="0"/>
              <a:t> </a:t>
            </a:r>
            <a:r>
              <a:rPr dirty="0"/>
              <a:t>IoT</a:t>
            </a:r>
            <a:r>
              <a:rPr spc="165" dirty="0"/>
              <a:t> </a:t>
            </a:r>
            <a:r>
              <a:rPr dirty="0"/>
              <a:t>Using</a:t>
            </a:r>
            <a:r>
              <a:rPr spc="210" dirty="0"/>
              <a:t> </a:t>
            </a:r>
            <a:r>
              <a:rPr dirty="0"/>
              <a:t>Fog</a:t>
            </a:r>
            <a:r>
              <a:rPr spc="210" dirty="0"/>
              <a:t> </a:t>
            </a:r>
            <a:r>
              <a:rPr spc="-25" dirty="0"/>
              <a:t>and </a:t>
            </a:r>
            <a:r>
              <a:rPr dirty="0"/>
              <a:t>Cloud</a:t>
            </a:r>
            <a:r>
              <a:rPr spc="45" dirty="0"/>
              <a:t> </a:t>
            </a:r>
            <a:r>
              <a:rPr dirty="0"/>
              <a:t>Computing,”</a:t>
            </a:r>
            <a:r>
              <a:rPr spc="45" dirty="0"/>
              <a:t> </a:t>
            </a:r>
            <a:r>
              <a:rPr dirty="0"/>
              <a:t>IEEE</a:t>
            </a:r>
            <a:r>
              <a:rPr spc="5" dirty="0"/>
              <a:t> </a:t>
            </a:r>
            <a:r>
              <a:rPr dirty="0"/>
              <a:t>Transactions</a:t>
            </a:r>
            <a:r>
              <a:rPr spc="40" dirty="0"/>
              <a:t> </a:t>
            </a:r>
            <a:r>
              <a:rPr dirty="0"/>
              <a:t>on</a:t>
            </a:r>
            <a:r>
              <a:rPr spc="45" dirty="0"/>
              <a:t> </a:t>
            </a:r>
            <a:r>
              <a:rPr dirty="0"/>
              <a:t>Industrial</a:t>
            </a:r>
            <a:r>
              <a:rPr spc="40" dirty="0"/>
              <a:t> </a:t>
            </a:r>
            <a:r>
              <a:rPr dirty="0"/>
              <a:t>Informatics,</a:t>
            </a:r>
            <a:r>
              <a:rPr spc="45" dirty="0"/>
              <a:t> </a:t>
            </a:r>
            <a:r>
              <a:rPr dirty="0"/>
              <a:t>vol.</a:t>
            </a:r>
            <a:r>
              <a:rPr spc="45" dirty="0"/>
              <a:t> </a:t>
            </a:r>
            <a:r>
              <a:rPr dirty="0"/>
              <a:t>20,</a:t>
            </a:r>
            <a:r>
              <a:rPr spc="45" dirty="0"/>
              <a:t> </a:t>
            </a:r>
            <a:r>
              <a:rPr dirty="0"/>
              <a:t>no.</a:t>
            </a:r>
            <a:r>
              <a:rPr spc="45" dirty="0"/>
              <a:t> </a:t>
            </a:r>
            <a:r>
              <a:rPr dirty="0"/>
              <a:t>1,</a:t>
            </a:r>
            <a:r>
              <a:rPr spc="45" dirty="0"/>
              <a:t> </a:t>
            </a:r>
            <a:r>
              <a:rPr dirty="0"/>
              <a:t>pp.</a:t>
            </a:r>
            <a:r>
              <a:rPr spc="45" dirty="0"/>
              <a:t> </a:t>
            </a:r>
            <a:r>
              <a:rPr spc="-10" dirty="0"/>
              <a:t>211–222, 2024</a:t>
            </a:r>
            <a:r>
              <a:rPr spc="-10" dirty="0">
                <a:latin typeface="Verdana" panose="020B0604030504040204"/>
                <a:cs typeface="Verdana" panose="020B0604030504040204"/>
              </a:rPr>
              <a:t>.</a:t>
            </a:r>
            <a:endParaRPr spc="-10" dirty="0">
              <a:latin typeface="Verdana" panose="020B0604030504040204"/>
              <a:cs typeface="Verdana" panose="020B0604030504040204"/>
            </a:endParaRPr>
          </a:p>
          <a:p>
            <a:pPr marL="12700" marR="5080" algn="just">
              <a:lnSpc>
                <a:spcPct val="100000"/>
              </a:lnSpc>
              <a:spcBef>
                <a:spcPts val="930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[7].</a:t>
            </a:r>
            <a:r>
              <a:rPr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60" dirty="0">
                <a:latin typeface="Times New Roman" panose="02020603050405020304"/>
                <a:cs typeface="Times New Roman" panose="02020603050405020304"/>
              </a:rPr>
              <a:t>Y.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Zhao,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L.</a:t>
            </a:r>
            <a:r>
              <a:rPr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100" dirty="0">
                <a:latin typeface="Times New Roman" panose="02020603050405020304"/>
                <a:cs typeface="Times New Roman" panose="02020603050405020304"/>
              </a:rPr>
              <a:t>T.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Yang,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Sun,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10" dirty="0"/>
              <a:t>“Privacy-</a:t>
            </a:r>
            <a:r>
              <a:rPr dirty="0"/>
              <a:t>Preserving</a:t>
            </a:r>
            <a:r>
              <a:rPr spc="-45" dirty="0"/>
              <a:t> </a:t>
            </a:r>
            <a:r>
              <a:rPr spc="-35" dirty="0"/>
              <a:t>Tensor-</a:t>
            </a:r>
            <a:r>
              <a:rPr dirty="0"/>
              <a:t>Based</a:t>
            </a:r>
            <a:r>
              <a:rPr spc="-10" dirty="0"/>
              <a:t> </a:t>
            </a:r>
            <a:r>
              <a:rPr dirty="0"/>
              <a:t>Multiple</a:t>
            </a:r>
            <a:r>
              <a:rPr spc="-15" dirty="0"/>
              <a:t> </a:t>
            </a:r>
            <a:r>
              <a:rPr spc="-10" dirty="0"/>
              <a:t>Clusterings </a:t>
            </a:r>
            <a:r>
              <a:rPr dirty="0"/>
              <a:t>on</a:t>
            </a:r>
            <a:r>
              <a:rPr spc="65" dirty="0"/>
              <a:t> </a:t>
            </a:r>
            <a:r>
              <a:rPr dirty="0"/>
              <a:t>Cloud</a:t>
            </a:r>
            <a:r>
              <a:rPr spc="70" dirty="0"/>
              <a:t> </a:t>
            </a:r>
            <a:r>
              <a:rPr dirty="0"/>
              <a:t>for</a:t>
            </a:r>
            <a:r>
              <a:rPr spc="70" dirty="0"/>
              <a:t> </a:t>
            </a:r>
            <a:r>
              <a:rPr dirty="0"/>
              <a:t>Industrial</a:t>
            </a:r>
            <a:r>
              <a:rPr spc="65" dirty="0"/>
              <a:t> </a:t>
            </a:r>
            <a:r>
              <a:rPr dirty="0"/>
              <a:t>IoT,”</a:t>
            </a:r>
            <a:r>
              <a:rPr spc="70" dirty="0"/>
              <a:t> </a:t>
            </a:r>
            <a:r>
              <a:rPr dirty="0"/>
              <a:t>IEEE</a:t>
            </a:r>
            <a:r>
              <a:rPr spc="30" dirty="0"/>
              <a:t> </a:t>
            </a:r>
            <a:r>
              <a:rPr dirty="0"/>
              <a:t>Transactions</a:t>
            </a:r>
            <a:r>
              <a:rPr spc="65" dirty="0"/>
              <a:t> </a:t>
            </a:r>
            <a:r>
              <a:rPr dirty="0"/>
              <a:t>on</a:t>
            </a:r>
            <a:r>
              <a:rPr spc="70" dirty="0"/>
              <a:t> </a:t>
            </a:r>
            <a:r>
              <a:rPr dirty="0"/>
              <a:t>Industrial</a:t>
            </a:r>
            <a:r>
              <a:rPr spc="65" dirty="0"/>
              <a:t> </a:t>
            </a:r>
            <a:r>
              <a:rPr dirty="0"/>
              <a:t>Informatics,</a:t>
            </a:r>
            <a:r>
              <a:rPr spc="80" dirty="0"/>
              <a:t> </a:t>
            </a:r>
            <a:r>
              <a:rPr dirty="0"/>
              <a:t>vol.</a:t>
            </a:r>
            <a:r>
              <a:rPr spc="80" dirty="0"/>
              <a:t> </a:t>
            </a:r>
            <a:r>
              <a:rPr dirty="0"/>
              <a:t>15,</a:t>
            </a:r>
            <a:r>
              <a:rPr spc="80" dirty="0"/>
              <a:t> </a:t>
            </a:r>
            <a:r>
              <a:rPr dirty="0"/>
              <a:t>no.</a:t>
            </a:r>
            <a:r>
              <a:rPr spc="80" dirty="0"/>
              <a:t> </a:t>
            </a:r>
            <a:r>
              <a:rPr dirty="0"/>
              <a:t>4,</a:t>
            </a:r>
            <a:r>
              <a:rPr spc="80" dirty="0"/>
              <a:t> </a:t>
            </a:r>
            <a:r>
              <a:rPr spc="-25" dirty="0"/>
              <a:t>pp. </a:t>
            </a:r>
            <a:r>
              <a:rPr dirty="0"/>
              <a:t>2372–2381,</a:t>
            </a:r>
            <a:r>
              <a:rPr spc="-114" dirty="0"/>
              <a:t> </a:t>
            </a:r>
            <a:r>
              <a:rPr dirty="0"/>
              <a:t>Apr.</a:t>
            </a:r>
            <a:r>
              <a:rPr spc="-95" dirty="0"/>
              <a:t> </a:t>
            </a:r>
            <a:r>
              <a:rPr spc="-10" dirty="0"/>
              <a:t>2023.</a:t>
            </a:r>
            <a:endParaRPr spc="-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575" algn="just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[8].Ma,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Z.,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Jiang,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M.,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Gao,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H.,</a:t>
            </a:r>
            <a:r>
              <a:rPr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Wang,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Z,</a:t>
            </a:r>
            <a:r>
              <a:rPr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Blockchain</a:t>
            </a:r>
            <a:r>
              <a:rPr spc="-2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dirty="0"/>
              <a:t>Rights</a:t>
            </a:r>
            <a:r>
              <a:rPr spc="-30" dirty="0"/>
              <a:t> </a:t>
            </a:r>
            <a:r>
              <a:rPr dirty="0"/>
              <a:t>Management.</a:t>
            </a:r>
            <a:r>
              <a:rPr spc="-25" dirty="0"/>
              <a:t> </a:t>
            </a:r>
            <a:r>
              <a:rPr spc="-10" dirty="0"/>
              <a:t>Future </a:t>
            </a:r>
            <a:r>
              <a:rPr dirty="0"/>
              <a:t>Generation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dirty="0"/>
              <a:t>Systems,</a:t>
            </a:r>
            <a:r>
              <a:rPr spc="-20" dirty="0"/>
              <a:t> </a:t>
            </a:r>
            <a:r>
              <a:rPr dirty="0"/>
              <a:t>89,</a:t>
            </a:r>
            <a:r>
              <a:rPr spc="-25" dirty="0"/>
              <a:t> </a:t>
            </a:r>
            <a:r>
              <a:rPr dirty="0"/>
              <a:t>746–764</a:t>
            </a:r>
            <a:r>
              <a:rPr spc="-20" dirty="0"/>
              <a:t> </a:t>
            </a:r>
            <a:r>
              <a:rPr spc="-10" dirty="0"/>
              <a:t>(2023).</a:t>
            </a:r>
            <a:endParaRPr spc="-10" dirty="0"/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b="1" spc="90" dirty="0">
                <a:latin typeface="Times New Roman" panose="02020603050405020304"/>
                <a:cs typeface="Times New Roman" panose="02020603050405020304"/>
              </a:rPr>
              <a:t>[9].Gai,</a:t>
            </a:r>
            <a:r>
              <a:rPr b="1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70" dirty="0">
                <a:latin typeface="Times New Roman" panose="02020603050405020304"/>
                <a:cs typeface="Times New Roman" panose="02020603050405020304"/>
              </a:rPr>
              <a:t>K.,</a:t>
            </a:r>
            <a:r>
              <a:rPr b="1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85" dirty="0">
                <a:latin typeface="Times New Roman" panose="02020603050405020304"/>
                <a:cs typeface="Times New Roman" panose="02020603050405020304"/>
              </a:rPr>
              <a:t>Choo,</a:t>
            </a:r>
            <a:r>
              <a:rPr b="1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105" dirty="0">
                <a:latin typeface="Times New Roman" panose="02020603050405020304"/>
                <a:cs typeface="Times New Roman" panose="02020603050405020304"/>
              </a:rPr>
              <a:t>K.-</a:t>
            </a:r>
            <a:r>
              <a:rPr b="1" spc="80" dirty="0">
                <a:latin typeface="Times New Roman" panose="02020603050405020304"/>
                <a:cs typeface="Times New Roman" panose="02020603050405020304"/>
              </a:rPr>
              <a:t>K.R.,</a:t>
            </a:r>
            <a:r>
              <a:rPr b="1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75" dirty="0">
                <a:latin typeface="Times New Roman" panose="02020603050405020304"/>
                <a:cs typeface="Times New Roman" panose="02020603050405020304"/>
              </a:rPr>
              <a:t>Zhu,</a:t>
            </a:r>
            <a:r>
              <a:rPr b="1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L.</a:t>
            </a:r>
            <a:r>
              <a:rPr spc="245" dirty="0"/>
              <a:t> </a:t>
            </a:r>
            <a:r>
              <a:rPr spc="110" dirty="0"/>
              <a:t>Blockchain-</a:t>
            </a:r>
            <a:r>
              <a:rPr spc="90" dirty="0"/>
              <a:t>Enabled</a:t>
            </a:r>
            <a:r>
              <a:rPr spc="254" dirty="0"/>
              <a:t> </a:t>
            </a:r>
            <a:r>
              <a:rPr spc="100" dirty="0"/>
              <a:t>Reengineering</a:t>
            </a:r>
            <a:r>
              <a:rPr spc="260" dirty="0"/>
              <a:t> </a:t>
            </a:r>
            <a:r>
              <a:rPr spc="50" dirty="0"/>
              <a:t>of</a:t>
            </a:r>
            <a:r>
              <a:rPr spc="254" dirty="0"/>
              <a:t> </a:t>
            </a:r>
            <a:r>
              <a:rPr spc="80" dirty="0"/>
              <a:t>Cloud </a:t>
            </a:r>
            <a:r>
              <a:rPr dirty="0"/>
              <a:t>Datacenters.</a:t>
            </a:r>
            <a:r>
              <a:rPr spc="-20" dirty="0"/>
              <a:t> </a:t>
            </a:r>
            <a:r>
              <a:rPr dirty="0"/>
              <a:t>IEEE</a:t>
            </a:r>
            <a:r>
              <a:rPr spc="-50" dirty="0"/>
              <a:t> </a:t>
            </a:r>
            <a:r>
              <a:rPr spc="-10" dirty="0"/>
              <a:t>Transactions</a:t>
            </a:r>
            <a:r>
              <a:rPr spc="-25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Cloud</a:t>
            </a:r>
            <a:r>
              <a:rPr spc="-15" dirty="0"/>
              <a:t> </a:t>
            </a:r>
            <a:r>
              <a:rPr dirty="0"/>
              <a:t>Computing,</a:t>
            </a:r>
            <a:r>
              <a:rPr spc="-20" dirty="0"/>
              <a:t> </a:t>
            </a:r>
            <a:r>
              <a:rPr dirty="0"/>
              <a:t>5(2),</a:t>
            </a:r>
            <a:r>
              <a:rPr spc="-15" dirty="0"/>
              <a:t> </a:t>
            </a:r>
            <a:r>
              <a:rPr dirty="0"/>
              <a:t>1–10</a:t>
            </a:r>
            <a:r>
              <a:rPr spc="-20" dirty="0"/>
              <a:t> </a:t>
            </a:r>
            <a:r>
              <a:rPr spc="-10" dirty="0"/>
              <a:t>(2022).</a:t>
            </a:r>
            <a:endParaRPr spc="-10" dirty="0"/>
          </a:p>
          <a:p>
            <a:pPr marL="12700" marR="5080" algn="just">
              <a:lnSpc>
                <a:spcPct val="100000"/>
              </a:lnSpc>
              <a:spcBef>
                <a:spcPts val="975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[10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].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Santosh</a:t>
            </a:r>
            <a:r>
              <a:rPr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Reddy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Addula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Aitizaz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Ali</a:t>
            </a:r>
            <a:r>
              <a:rPr dirty="0"/>
              <a:t>,.A</a:t>
            </a:r>
            <a:r>
              <a:rPr spc="-15" dirty="0"/>
              <a:t> </a:t>
            </a:r>
            <a:r>
              <a:rPr dirty="0"/>
              <a:t>Novel</a:t>
            </a:r>
            <a:r>
              <a:rPr spc="-20" dirty="0"/>
              <a:t> </a:t>
            </a:r>
            <a:r>
              <a:rPr dirty="0"/>
              <a:t>Permissioned</a:t>
            </a:r>
            <a:r>
              <a:rPr spc="-15" dirty="0"/>
              <a:t> </a:t>
            </a:r>
            <a:r>
              <a:rPr spc="-10" dirty="0"/>
              <a:t>Blockchain</a:t>
            </a:r>
            <a:r>
              <a:rPr spc="-105" dirty="0"/>
              <a:t> </a:t>
            </a:r>
            <a:r>
              <a:rPr dirty="0"/>
              <a:t>Approach</a:t>
            </a:r>
            <a:r>
              <a:rPr spc="-15" dirty="0"/>
              <a:t> </a:t>
            </a:r>
            <a:r>
              <a:rPr spc="-25" dirty="0"/>
              <a:t>for </a:t>
            </a:r>
            <a:r>
              <a:rPr spc="10" dirty="0"/>
              <a:t>Scalable</a:t>
            </a:r>
            <a:r>
              <a:rPr spc="285" dirty="0"/>
              <a:t> </a:t>
            </a:r>
            <a:r>
              <a:rPr spc="10" dirty="0"/>
              <a:t>and</a:t>
            </a:r>
            <a:r>
              <a:rPr spc="290" dirty="0"/>
              <a:t> </a:t>
            </a:r>
            <a:r>
              <a:rPr spc="45" dirty="0"/>
              <a:t>Privacy-</a:t>
            </a:r>
            <a:r>
              <a:rPr spc="10" dirty="0"/>
              <a:t>Preserving</a:t>
            </a:r>
            <a:r>
              <a:rPr spc="290" dirty="0"/>
              <a:t> </a:t>
            </a:r>
            <a:r>
              <a:rPr spc="10" dirty="0"/>
              <a:t>IoT</a:t>
            </a:r>
            <a:r>
              <a:rPr spc="110" dirty="0"/>
              <a:t> </a:t>
            </a:r>
            <a:r>
              <a:rPr spc="10" dirty="0"/>
              <a:t>Authentication.</a:t>
            </a:r>
            <a:r>
              <a:rPr spc="290" dirty="0"/>
              <a:t> </a:t>
            </a:r>
            <a:r>
              <a:rPr spc="10" dirty="0"/>
              <a:t>Journal</a:t>
            </a:r>
            <a:r>
              <a:rPr spc="280" dirty="0"/>
              <a:t> </a:t>
            </a:r>
            <a:r>
              <a:rPr spc="10" dirty="0"/>
              <a:t>of</a:t>
            </a:r>
            <a:r>
              <a:rPr spc="290" dirty="0"/>
              <a:t> </a:t>
            </a:r>
            <a:r>
              <a:rPr spc="10" dirty="0"/>
              <a:t>Cyber</a:t>
            </a:r>
            <a:r>
              <a:rPr spc="295" dirty="0"/>
              <a:t> </a:t>
            </a:r>
            <a:r>
              <a:rPr spc="10" dirty="0"/>
              <a:t>Security</a:t>
            </a:r>
            <a:r>
              <a:rPr spc="305" dirty="0"/>
              <a:t> </a:t>
            </a:r>
            <a:r>
              <a:rPr spc="10" dirty="0"/>
              <a:t>and</a:t>
            </a:r>
            <a:r>
              <a:rPr spc="300" dirty="0"/>
              <a:t> </a:t>
            </a:r>
            <a:r>
              <a:rPr spc="-20" dirty="0"/>
              <a:t>Risk </a:t>
            </a:r>
            <a:r>
              <a:rPr dirty="0"/>
              <a:t>Auditing, 2022(4), pp.</a:t>
            </a:r>
            <a:r>
              <a:rPr spc="5" dirty="0"/>
              <a:t> </a:t>
            </a:r>
            <a:r>
              <a:rPr spc="-10" dirty="0"/>
              <a:t>222-</a:t>
            </a:r>
            <a:r>
              <a:rPr spc="-20" dirty="0"/>
              <a:t>237.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1269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12192000" y="470230"/>
                  </a:lnTo>
                  <a:lnTo>
                    <a:pt x="11709273" y="470217"/>
                  </a:lnTo>
                  <a:lnTo>
                    <a:pt x="11709273" y="6380480"/>
                  </a:lnTo>
                  <a:lnTo>
                    <a:pt x="476377" y="6380480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390454" y="0"/>
              <a:ext cx="780516" cy="12157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200" y="1659635"/>
              <a:ext cx="7789164" cy="30769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8108</Words>
  <Application>WPS Presentation</Application>
  <PresentationFormat>Widescreen</PresentationFormat>
  <Paragraphs>167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Times New Roman</vt:lpstr>
      <vt:lpstr>Tahoma</vt:lpstr>
      <vt:lpstr>Lucida Sans Unicode</vt:lpstr>
      <vt:lpstr>Verdana</vt:lpstr>
      <vt:lpstr>Microsoft YaHei</vt:lpstr>
      <vt:lpstr>Arial Unicode MS</vt:lpstr>
      <vt:lpstr>Calibri</vt:lpstr>
      <vt:lpstr>Arial MT</vt:lpstr>
      <vt:lpstr>Office Theme</vt:lpstr>
      <vt:lpstr>MAJOR PROJECT IMPLEMENTATION REVIEW ON</vt:lpstr>
      <vt:lpstr>AGENDA</vt:lpstr>
      <vt:lpstr>OBJECTIVE</vt:lpstr>
      <vt:lpstr>ABSTRACT</vt:lpstr>
      <vt:lpstr>LITERATURE REVIEW</vt:lpstr>
      <vt:lpstr>LITERATURE REVIEW</vt:lpstr>
      <vt:lpstr>LITERATURE REVIEW</vt:lpstr>
      <vt:lpstr>Existing System</vt:lpstr>
      <vt:lpstr>Proposed System</vt:lpstr>
      <vt:lpstr>Architecture Diagram</vt:lpstr>
      <vt:lpstr>Technologies used</vt:lpstr>
      <vt:lpstr>Technologies used</vt:lpstr>
      <vt:lpstr>OUTPUTS</vt:lpstr>
      <vt:lpstr>HOME PAGE</vt:lpstr>
      <vt:lpstr>IOT DEVICE</vt:lpstr>
      <vt:lpstr>Blockchain Records</vt:lpstr>
      <vt:lpstr>FINAL OUTPUT</vt:lpstr>
      <vt:lpstr>Conclusion</vt:lpstr>
      <vt:lpstr>References</vt:lpstr>
      <vt:lpstr>References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Mythili Reddy</dc:creator>
  <cp:lastModifiedBy>Keerthana Martha</cp:lastModifiedBy>
  <cp:revision>6</cp:revision>
  <dcterms:created xsi:type="dcterms:W3CDTF">2025-10-30T03:46:00Z</dcterms:created>
  <dcterms:modified xsi:type="dcterms:W3CDTF">2026-04-01T14:38:15Z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2025-10-30T16:30:00Z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2025-10-30T16:30:00Z</vt:filetime>
  </property>
  <property fmtid="{D5CDD505-2E9C-101B-9397-08002B2CF9AE}" pid="5" name="SourceModified">
    <vt:lpwstr>D:20251030062915+05'30'</vt:lpwstr>
  </property>
  <property fmtid="{D5CDD505-2E9C-101B-9397-08002B2CF9AE}" pid="6" name="ICV">
    <vt:lpwstr>487ED6E54AD54EC9A9257D619B7A068C_13</vt:lpwstr>
  </property>
  <property fmtid="{D5CDD505-2E9C-101B-9397-08002B2CF9AE}" pid="7" name="KSOProductBuildVer">
    <vt:lpwstr>1033-12.2.0.23196</vt:lpwstr>
  </property>
</Properties>
</file>